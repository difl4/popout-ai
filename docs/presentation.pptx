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E6F1F5"/>
                </a:solidFill>
                <a:latin typeface="Calibri"/>
              </a:rPr>
              <a:t>INTELIGÊNCIA ARTIFICIAL 2025/2026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73152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PopOut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 i="1">
                <a:solidFill>
                  <a:srgbClr val="E6F1F5"/>
                </a:solidFill>
                <a:latin typeface="Calibri"/>
              </a:rPr>
              <a:t>MCTS + ID3 para uma variante do Connect-4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880360"/>
            <a:ext cx="4572000" cy="2743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6F1F5"/>
                </a:solidFill>
                <a:latin typeface="Calibri"/>
              </a:rPr>
              <a:t>Grupo: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Duarte Meneses dos Santos Sousa Gomes  ·  202409386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José Paulo Pacheco de Sousa  ·  202405046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Tiago Braga da Cruz Frada de Sousa  ·  202405406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348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E6F1F5"/>
                </a:solidFill>
                <a:latin typeface="Calibri"/>
              </a:rPr>
              <a:t>github.com/Difl4/popout-ai   ·   Maio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640080" cy="29260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64008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7315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21295C"/>
                </a:solidFill>
                <a:latin typeface="Calibri"/>
              </a:rPr>
              <a:t>O Problema: PopOut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65A82"/>
                </a:solidFill>
                <a:latin typeface="Calibri"/>
              </a:rPr>
              <a:t>Connect-4 + jogada POP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029200" cy="1371600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1C7293"/>
                </a:solidFill>
                <a:latin typeface="Calibri"/>
              </a:rPr>
              <a:t>•  </a:t>
            </a:r>
            <a:r>
              <a:rPr sz="1400">
                <a:solidFill>
                  <a:srgbClr val="121E3F"/>
                </a:solidFill>
                <a:latin typeface="Calibri"/>
              </a:rPr>
              <a:t>Tabuleiro 7×6, dois jogadores alternam.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C7293"/>
                </a:solidFill>
                <a:latin typeface="Calibri"/>
              </a:rPr>
              <a:t>•  </a:t>
            </a:r>
            <a:r>
              <a:rPr sz="1400">
                <a:solidFill>
                  <a:srgbClr val="121E3F"/>
                </a:solidFill>
                <a:latin typeface="Calibri"/>
              </a:rPr>
              <a:t>POP: remover peça própria do fundo — peças acima descem.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C7293"/>
                </a:solidFill>
                <a:latin typeface="Calibri"/>
              </a:rPr>
              <a:t>•  </a:t>
            </a:r>
            <a:r>
              <a:rPr sz="1400">
                <a:solidFill>
                  <a:srgbClr val="121E3F"/>
                </a:solidFill>
                <a:latin typeface="Calibri"/>
              </a:rPr>
              <a:t>Vencedor: o primeiro a alinhar 4 (horiz / vert / diag).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/>
              </a:rPr>
              <a:t>Três regras especiais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5029200" cy="1280160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C7293"/>
                </a:solidFill>
                <a:latin typeface="Calibri"/>
              </a:rPr>
              <a:t>•  </a:t>
            </a:r>
            <a:r>
              <a:rPr sz="1300">
                <a:solidFill>
                  <a:srgbClr val="556B78"/>
                </a:solidFill>
                <a:latin typeface="Calibri"/>
              </a:rPr>
              <a:t>Pop simultâneo: ganha quem fez o pop.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1C7293"/>
                </a:solidFill>
                <a:latin typeface="Calibri"/>
              </a:rPr>
              <a:t>•  </a:t>
            </a:r>
            <a:r>
              <a:rPr sz="1300">
                <a:solidFill>
                  <a:srgbClr val="556B78"/>
                </a:solidFill>
                <a:latin typeface="Calibri"/>
              </a:rPr>
              <a:t>Tabuleiro cheio: a vez de jogar pode declarar empate.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1C7293"/>
                </a:solidFill>
                <a:latin typeface="Calibri"/>
              </a:rPr>
              <a:t>•  </a:t>
            </a:r>
            <a:r>
              <a:rPr sz="1300">
                <a:solidFill>
                  <a:srgbClr val="556B78"/>
                </a:solidFill>
                <a:latin typeface="Calibri"/>
              </a:rPr>
              <a:t>Repetição tripla: qualquer jogador pode declarar empate.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960120"/>
            <a:ext cx="2834640" cy="3611880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52160" y="960120"/>
            <a:ext cx="73152" cy="36118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09728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Cenários obrigatórios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417320"/>
            <a:ext cx="2560320" cy="2377440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C7293"/>
                </a:solidFill>
                <a:latin typeface="Calibri"/>
              </a:rPr>
              <a:t>•  </a:t>
            </a:r>
            <a:r>
              <a:rPr sz="1300">
                <a:solidFill>
                  <a:srgbClr val="121E3F"/>
                </a:solidFill>
                <a:latin typeface="Calibri"/>
              </a:rPr>
              <a:t>Humano vs Humano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1C7293"/>
                </a:solidFill>
                <a:latin typeface="Calibri"/>
              </a:rPr>
              <a:t>•  </a:t>
            </a:r>
            <a:r>
              <a:rPr sz="1300">
                <a:solidFill>
                  <a:srgbClr val="121E3F"/>
                </a:solidFill>
                <a:latin typeface="Calibri"/>
              </a:rPr>
              <a:t>Humano vs Computador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1C7293"/>
                </a:solidFill>
                <a:latin typeface="Calibri"/>
              </a:rPr>
              <a:t>•  </a:t>
            </a:r>
            <a:r>
              <a:rPr sz="1300">
                <a:solidFill>
                  <a:srgbClr val="121E3F"/>
                </a:solidFill>
                <a:latin typeface="Calibri"/>
              </a:rPr>
              <a:t>Computador vs Computador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200400"/>
            <a:ext cx="2560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Cobertura no projecto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456432"/>
            <a:ext cx="256032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56B78"/>
                </a:solidFill>
                <a:latin typeface="Calibri"/>
              </a:rPr>
              <a:t>GUI Pygame (PvP, HvC, Arena) +
CLI com torneio configurável.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56B78"/>
                </a:solidFill>
                <a:latin typeface="Calibri"/>
              </a:rPr>
              <a:t>PopOut AI — IA 2025/2026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846320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6B78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640080" cy="29260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64008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7315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21295C"/>
                </a:solidFill>
                <a:latin typeface="Calibri"/>
              </a:rPr>
              <a:t>Arquitectura &amp; Contribuições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2606040" cy="1691640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2606040" cy="914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1C7293"/>
                </a:solidFill>
                <a:latin typeface="Calibri"/>
              </a:rPr>
              <a:t>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22860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21E3F"/>
                </a:solidFill>
                <a:latin typeface="Calibri"/>
              </a:rPr>
              <a:t>Bitboard 7×6
Regras (3 especiais)
Kernels Numba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005840"/>
            <a:ext cx="2606040" cy="1691640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1005840"/>
            <a:ext cx="2606040" cy="914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18872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Agentes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600200"/>
            <a:ext cx="22860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21E3F"/>
                </a:solidFill>
                <a:latin typeface="Calibri"/>
              </a:rPr>
              <a:t>MCTS + UCT
MCTS-Solver
ID3 from scratch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005840"/>
            <a:ext cx="2606040" cy="1691640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005840"/>
            <a:ext cx="2606040" cy="914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18872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21295C"/>
                </a:solidFill>
                <a:latin typeface="Calibri"/>
              </a:rPr>
              <a:t>Interface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600200"/>
            <a:ext cx="22860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121E3F"/>
                </a:solidFill>
                <a:latin typeface="Calibri"/>
              </a:rPr>
              <a:t>CLI (HvH/HvC/CvC)
GUI Pygame
GUI Arena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926080"/>
            <a:ext cx="82296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Distribuição de tarefas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46120"/>
            <a:ext cx="1371600" cy="3200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24612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Duarte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264408"/>
            <a:ext cx="67665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121E3F"/>
                </a:solidFill>
                <a:latin typeface="Calibri"/>
              </a:rPr>
              <a:t>Bitboard · MCTS-Solver · Kernels Numba · Pipeline ID3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57600"/>
            <a:ext cx="1371600" cy="3200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65760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José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675887"/>
            <a:ext cx="67665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121E3F"/>
                </a:solidFill>
                <a:latin typeface="Calibri"/>
              </a:rPr>
              <a:t>ID3 from scratch · Dataset generator · Análise leakage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069080"/>
            <a:ext cx="1371600" cy="3200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069080"/>
            <a:ext cx="137160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Tiago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4087368"/>
            <a:ext cx="676656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121E3F"/>
                </a:solidFill>
                <a:latin typeface="Calibri"/>
              </a:rPr>
              <a:t>GUI Pygame · CLI/torneio · Benchmarks · Tests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56B78"/>
                </a:solidFill>
                <a:latin typeface="Calibri"/>
              </a:rPr>
              <a:t>PopOut AI — IA 2025/2026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4846320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6B78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640080" cy="29260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64008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7315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21295C"/>
                </a:solidFill>
                <a:latin typeface="Calibri"/>
              </a:rPr>
              <a:t>MCTS — UCT e Variantes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/>
              </a:rPr>
              <a:t>As 4 fases canónicas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417320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1426464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56B78"/>
                </a:solidFill>
                <a:latin typeface="Calibri"/>
              </a:rPr>
              <a:t>UCT escolhe o filho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41148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28800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874519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Expansion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1883664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56B78"/>
                </a:solidFill>
                <a:latin typeface="Calibri"/>
              </a:rPr>
              <a:t>Adiciona novo nó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286000"/>
            <a:ext cx="41148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286000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331720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Simulation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2340864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56B78"/>
                </a:solidFill>
                <a:latin typeface="Calibri"/>
              </a:rPr>
              <a:t>Rollout aleatório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43200"/>
            <a:ext cx="41148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743200"/>
            <a:ext cx="4114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2788920"/>
            <a:ext cx="1463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Backpropagation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2798064"/>
            <a:ext cx="2286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56B78"/>
                </a:solidFill>
                <a:latin typeface="Calibri"/>
              </a:rPr>
              <a:t>Actualiza visitas/valor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960120"/>
            <a:ext cx="3657600" cy="3611880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0" y="960120"/>
            <a:ext cx="73152" cy="36118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0" y="1097280"/>
            <a:ext cx="33832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Fórmula UCT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1417320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1">
                <a:solidFill>
                  <a:srgbClr val="065A82"/>
                </a:solidFill>
                <a:latin typeface="Cambria"/>
              </a:rPr>
              <a:t>score = Q + C · √(ln N / 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1920240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6B78"/>
                </a:solidFill>
                <a:latin typeface="Calibri"/>
              </a:rPr>
              <a:t>C = √2 ≈ 1.414 (rewards normalizados em [0, 1])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2331720"/>
            <a:ext cx="33832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5 variantes implementadas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2651760"/>
            <a:ext cx="3383280" cy="1828800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1C7293"/>
                </a:solidFill>
                <a:latin typeface="Calibri"/>
              </a:rPr>
              <a:t>•  </a:t>
            </a:r>
            <a:r>
              <a:rPr sz="1100">
                <a:solidFill>
                  <a:srgbClr val="121E3F"/>
                </a:solidFill>
                <a:latin typeface="Calibri"/>
              </a:rPr>
              <a:t>StandardUCT  ·  baseline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1C7293"/>
                </a:solidFill>
                <a:latin typeface="Calibri"/>
              </a:rPr>
              <a:t>•  </a:t>
            </a:r>
            <a:r>
              <a:rPr sz="1100">
                <a:solidFill>
                  <a:srgbClr val="121E3F"/>
                </a:solidFill>
                <a:latin typeface="Calibri"/>
              </a:rPr>
              <a:t>ExperimentalUCT  ·  ordem de filhos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1C7293"/>
                </a:solidFill>
                <a:latin typeface="Calibri"/>
              </a:rPr>
              <a:t>•  </a:t>
            </a:r>
            <a:r>
              <a:rPr sz="1100">
                <a:solidFill>
                  <a:srgbClr val="121E3F"/>
                </a:solidFill>
                <a:latin typeface="Calibri"/>
              </a:rPr>
              <a:t>TopK-UCT  ·  k filhos seleccionados (req §4.1)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1C7293"/>
                </a:solidFill>
                <a:latin typeface="Calibri"/>
              </a:rPr>
              <a:t>•  </a:t>
            </a:r>
            <a:r>
              <a:rPr sz="1100">
                <a:solidFill>
                  <a:srgbClr val="121E3F"/>
                </a:solidFill>
                <a:latin typeface="Calibri"/>
              </a:rPr>
              <a:t>MCTS-Solver  ·  ver slide 5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1C7293"/>
                </a:solidFill>
                <a:latin typeface="Calibri"/>
              </a:rPr>
              <a:t>•  </a:t>
            </a:r>
            <a:r>
              <a:rPr sz="1100">
                <a:solidFill>
                  <a:srgbClr val="121E3F"/>
                </a:solidFill>
                <a:latin typeface="Calibri"/>
              </a:rPr>
              <a:t>Numba JIT (4 variantes)  ·  ver slide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56B78"/>
                </a:solidFill>
                <a:latin typeface="Calibri"/>
              </a:rPr>
              <a:t>PopOut AI — IA 2025/2026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846320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6B78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640080" cy="29260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64008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7315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21295C"/>
                </a:solidFill>
                <a:latin typeface="Calibri"/>
              </a:rPr>
              <a:t>Diferenciadores: Solver, Reuse, Numba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69748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2697480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09728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libri"/>
              </a:rPr>
              <a:t>MCTS-Solver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2423160" cy="2148840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 </a:t>
            </a:r>
            <a:r>
              <a:rPr sz="1300">
                <a:solidFill>
                  <a:srgbClr val="556B78"/>
                </a:solidFill>
                <a:latin typeface="Calibri"/>
              </a:rPr>
              <a:t>Etiquetas WIN/LOSS/DRAW provadas matematicamente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 </a:t>
            </a:r>
            <a:r>
              <a:rPr sz="1300">
                <a:solidFill>
                  <a:srgbClr val="556B78"/>
                </a:solidFill>
                <a:latin typeface="Calibri"/>
              </a:rPr>
              <a:t>Propagação AND/OR + distância minimax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065A82"/>
                </a:solidFill>
                <a:latin typeface="Calibri"/>
              </a:rPr>
              <a:t>•  </a:t>
            </a:r>
            <a:r>
              <a:rPr sz="1300">
                <a:solidFill>
                  <a:srgbClr val="556B78"/>
                </a:solidFill>
                <a:latin typeface="Calibri"/>
              </a:rPr>
              <a:t>Win-fast / Lose-slow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960120"/>
            <a:ext cx="269748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960120"/>
            <a:ext cx="2697480" cy="7315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79" y="109728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libri"/>
              </a:rPr>
              <a:t>Tree Reuse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79" y="1463040"/>
            <a:ext cx="2423160" cy="2148840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C7293"/>
                </a:solidFill>
                <a:latin typeface="Calibri"/>
              </a:rPr>
              <a:t>•  </a:t>
            </a:r>
            <a:r>
              <a:rPr sz="1300">
                <a:solidFill>
                  <a:srgbClr val="556B78"/>
                </a:solidFill>
                <a:latin typeface="Calibri"/>
              </a:rPr>
              <a:t>Reaproveita sub-árvore entre jogadas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1C7293"/>
                </a:solidFill>
                <a:latin typeface="Calibri"/>
              </a:rPr>
              <a:t>•  </a:t>
            </a:r>
            <a:r>
              <a:rPr sz="1300">
                <a:solidFill>
                  <a:srgbClr val="556B78"/>
                </a:solidFill>
                <a:latin typeface="Calibri"/>
              </a:rPr>
              <a:t>Flat arrays + BFS compaction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1C7293"/>
                </a:solidFill>
                <a:latin typeface="Calibri"/>
              </a:rPr>
              <a:t>•  </a:t>
            </a:r>
            <a:r>
              <a:rPr sz="1300">
                <a:solidFill>
                  <a:srgbClr val="556B78"/>
                </a:solidFill>
                <a:latin typeface="Calibri"/>
              </a:rPr>
              <a:t>Visitas inherited × ~0.35² ≈ 12%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960120"/>
            <a:ext cx="269748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960120"/>
            <a:ext cx="2697480" cy="73152"/>
          </a:xfrm>
          <a:prstGeom prst="rect">
            <a:avLst/>
          </a:prstGeom>
          <a:solidFill>
            <a:srgbClr val="E57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097280"/>
            <a:ext cx="2423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21295C"/>
                </a:solidFill>
                <a:latin typeface="Calibri"/>
              </a:rPr>
              <a:t>Numba JIT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463040"/>
            <a:ext cx="2423160" cy="2148840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E5714E"/>
                </a:solidFill>
                <a:latin typeface="Calibri"/>
              </a:rPr>
              <a:t>•  </a:t>
            </a:r>
            <a:r>
              <a:rPr sz="1300">
                <a:solidFill>
                  <a:srgbClr val="556B78"/>
                </a:solidFill>
                <a:latin typeface="Calibri"/>
              </a:rPr>
              <a:t>Kernels @njit em arrays planos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E5714E"/>
                </a:solidFill>
                <a:latin typeface="Calibri"/>
              </a:rPr>
              <a:t>•  </a:t>
            </a:r>
            <a:r>
              <a:rPr sz="1300">
                <a:solidFill>
                  <a:srgbClr val="556B78"/>
                </a:solidFill>
                <a:latin typeface="Calibri"/>
              </a:rPr>
              <a:t>Warmup explícito + cache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E5714E"/>
                </a:solidFill>
                <a:latin typeface="Calibri"/>
              </a:rPr>
              <a:t>•  </a:t>
            </a:r>
            <a:r>
              <a:rPr sz="1300">
                <a:solidFill>
                  <a:srgbClr val="556B78"/>
                </a:solidFill>
                <a:latin typeface="Calibri"/>
              </a:rPr>
              <a:t>Performance: ver coluna 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8275320" cy="7772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88620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6F1F5"/>
                </a:solidFill>
                <a:latin typeface="Calibri"/>
              </a:rPr>
              <a:t>Throughput medido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6052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FlatNumba: ~13 M iter/s   ·   StandardUCT: ~9 k iter/s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02336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≈ 1 400× speedup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56B78"/>
                </a:solidFill>
                <a:latin typeface="Calibri"/>
              </a:rPr>
              <a:t>PopOut AI — IA 2025/2026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846320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6B78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640080" cy="29260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64008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7315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21295C"/>
                </a:solidFill>
                <a:latin typeface="Calibri"/>
              </a:rPr>
              <a:t>ID3 — Iris e Dataset PopOut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/>
              </a:rPr>
              <a:t>ID3 from scratch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4114800" cy="1463040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1C7293"/>
                </a:solidFill>
                <a:latin typeface="Calibri"/>
              </a:rPr>
              <a:t>•  </a:t>
            </a:r>
            <a:r>
              <a:rPr sz="1300">
                <a:solidFill>
                  <a:srgbClr val="121E3F"/>
                </a:solidFill>
                <a:latin typeface="Calibri"/>
              </a:rPr>
              <a:t>Entropia de Shannon: −Σ pᵢ·log₂(pᵢ)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1C7293"/>
                </a:solidFill>
                <a:latin typeface="Calibri"/>
              </a:rPr>
              <a:t>•  </a:t>
            </a:r>
            <a:r>
              <a:rPr sz="1300">
                <a:solidFill>
                  <a:srgbClr val="121E3F"/>
                </a:solidFill>
                <a:latin typeface="Calibri"/>
              </a:rPr>
              <a:t>Information Gain + recursive build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1C7293"/>
                </a:solidFill>
                <a:latin typeface="Calibri"/>
              </a:rPr>
              <a:t>•  </a:t>
            </a:r>
            <a:r>
              <a:rPr sz="1300">
                <a:solidFill>
                  <a:srgbClr val="121E3F"/>
                </a:solidFill>
                <a:latin typeface="Calibri"/>
              </a:rPr>
              <a:t>Predict com fallback para majority label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1C7293"/>
                </a:solidFill>
                <a:latin typeface="Calibri"/>
              </a:rPr>
              <a:t>•  </a:t>
            </a:r>
            <a:r>
              <a:rPr sz="1300">
                <a:solidFill>
                  <a:srgbClr val="121E3F"/>
                </a:solidFill>
                <a:latin typeface="Calibri"/>
              </a:rPr>
              <a:t>Sem scikit-learn no treino (§4.2)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80360"/>
            <a:ext cx="4114800" cy="1691640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880360"/>
            <a:ext cx="73152" cy="169164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38404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Iris (warm-up)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10128"/>
            <a:ext cx="3840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2E8B57"/>
                </a:solidFill>
                <a:latin typeface="Calibri"/>
              </a:rPr>
              <a:t>95.07 % ± 5.63 %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49039"/>
            <a:ext cx="3840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6B78"/>
                </a:solidFill>
                <a:latin typeface="Calibri"/>
              </a:rPr>
              <a:t>5×10-fold cross-validation (50 runs)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3840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121E3F"/>
                </a:solidFill>
                <a:latin typeface="Calibri"/>
              </a:rPr>
              <a:t>Discretização quantile  ·  F1 ≥ 0.92 para 3 classes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960120"/>
            <a:ext cx="3931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/>
              </a:rPr>
              <a:t>Dataset PopOut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371600"/>
            <a:ext cx="3931920" cy="1828800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1C7293"/>
                </a:solidFill>
                <a:latin typeface="Calibri"/>
              </a:rPr>
              <a:t>•  </a:t>
            </a:r>
            <a:r>
              <a:rPr sz="1200">
                <a:solidFill>
                  <a:srgbClr val="121E3F"/>
                </a:solidFill>
                <a:latin typeface="Calibri"/>
              </a:rPr>
              <a:t>Oracle: ReuseFlatNumbaSolverMCTS @ 100k iter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1C7293"/>
                </a:solidFill>
                <a:latin typeface="Calibri"/>
              </a:rPr>
              <a:t>•  </a:t>
            </a:r>
            <a:r>
              <a:rPr sz="1200">
                <a:solidFill>
                  <a:srgbClr val="121E3F"/>
                </a:solidFill>
                <a:latin typeface="Calibri"/>
              </a:rPr>
              <a:t>193 058 posições · 50 features · 14 classes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1C7293"/>
                </a:solidFill>
                <a:latin typeface="Calibri"/>
              </a:rPr>
              <a:t>•  </a:t>
            </a:r>
            <a:r>
              <a:rPr sz="1200">
                <a:solidFill>
                  <a:srgbClr val="121E3F"/>
                </a:solidFill>
                <a:latin typeface="Calibri"/>
              </a:rPr>
              <a:t>Mirroring horizontal (simetria)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1C7293"/>
                </a:solidFill>
                <a:latin typeface="Calibri"/>
              </a:rPr>
              <a:t>•  </a:t>
            </a:r>
            <a:r>
              <a:rPr sz="1200">
                <a:solidFill>
                  <a:srgbClr val="121E3F"/>
                </a:solidFill>
                <a:latin typeface="Calibri"/>
              </a:rPr>
              <a:t>3 tiers de blunder (5/25/50 %) + opening forçada 7×7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1C7293"/>
                </a:solidFill>
                <a:latin typeface="Calibri"/>
              </a:rPr>
              <a:t>•  </a:t>
            </a:r>
            <a:r>
              <a:rPr sz="1200">
                <a:solidFill>
                  <a:srgbClr val="121E3F"/>
                </a:solidFill>
                <a:latin typeface="Calibri"/>
              </a:rPr>
              <a:t>Flag is_proven distingue labels provados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3246120"/>
            <a:ext cx="3931920" cy="1325880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3246120"/>
            <a:ext cx="73152" cy="13258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3337560"/>
            <a:ext cx="36576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1295C"/>
                </a:solidFill>
                <a:latin typeface="Calibri"/>
              </a:rPr>
              <a:t>Geração paralela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65760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065A82"/>
                </a:solidFill>
                <a:latin typeface="Calibri"/>
              </a:rPr>
              <a:t>16 workers · ~5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06908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556B78"/>
                </a:solidFill>
                <a:latin typeface="Calibri"/>
              </a:rPr>
              <a:t>39 % das posições têm prova matemática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56B78"/>
                </a:solidFill>
                <a:latin typeface="Calibri"/>
              </a:rPr>
              <a:t>PopOut AI — IA 2025/2026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846320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6B78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640080" cy="29260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64008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7315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21295C"/>
                </a:solidFill>
                <a:latin typeface="Calibri"/>
              </a:rPr>
              <a:t>Rigor Metodológico: Detecção do Data Leakage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121E3F"/>
                </a:solidFill>
                <a:latin typeface="Calibri"/>
              </a:rPr>
              <a:t>Auditoria do pipeline expôs duas camadas de leakage train/test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8229600" cy="347472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2011679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39" y="1417320"/>
            <a:ext cx="1463039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State overlap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417320"/>
            <a:ext cx="12801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Test acc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1417320"/>
            <a:ext cx="3108960" cy="34747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Diagnóstico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8229600" cy="384048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73152" cy="384048"/>
          </a:xfrm>
          <a:prstGeom prst="rect">
            <a:avLst/>
          </a:prstGeom>
          <a:solidFill>
            <a:srgbClr val="E57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828800"/>
            <a:ext cx="2011679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21E3F"/>
                </a:solidFill>
                <a:latin typeface="Calibri"/>
              </a:rPr>
              <a:t>BUGGY (original)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39" y="1828800"/>
            <a:ext cx="1463039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121E3F"/>
                </a:solidFill>
                <a:latin typeface="Calibri"/>
              </a:rPr>
              <a:t>94.9 %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1828800"/>
            <a:ext cx="12801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E5714E"/>
                </a:solidFill>
                <a:latin typeface="Calibri"/>
              </a:rPr>
              <a:t>0.876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1828800"/>
            <a:ext cx="31089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1">
                <a:solidFill>
                  <a:srgbClr val="556B78"/>
                </a:solidFill>
                <a:latin typeface="Calibri"/>
              </a:rPr>
              <a:t>Bug do reset_index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240280"/>
            <a:ext cx="82296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240280"/>
            <a:ext cx="73152" cy="384048"/>
          </a:xfrm>
          <a:prstGeom prst="rect">
            <a:avLst/>
          </a:prstGeom>
          <a:solidFill>
            <a:srgbClr val="55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240280"/>
            <a:ext cx="2011679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21E3F"/>
                </a:solidFill>
                <a:latin typeface="Calibri"/>
              </a:rPr>
              <a:t>RANDOM (row-level)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39" y="2240280"/>
            <a:ext cx="1463039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121E3F"/>
                </a:solidFill>
                <a:latin typeface="Calibri"/>
              </a:rPr>
              <a:t>80.4 %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2240280"/>
            <a:ext cx="12801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556B78"/>
                </a:solidFill>
                <a:latin typeface="Calibri"/>
              </a:rPr>
              <a:t>0.752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2240280"/>
            <a:ext cx="31089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1">
                <a:solidFill>
                  <a:srgbClr val="556B78"/>
                </a:solidFill>
                <a:latin typeface="Calibri"/>
              </a:rPr>
              <a:t>Duplicação intrínseca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651760"/>
            <a:ext cx="8229600" cy="384048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2651760"/>
            <a:ext cx="73152" cy="38404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651760"/>
            <a:ext cx="2011679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21E3F"/>
                </a:solidFill>
                <a:latin typeface="Calibri"/>
              </a:rPr>
              <a:t>GROUPED (state)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39" y="2651760"/>
            <a:ext cx="1463039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121E3F"/>
                </a:solidFill>
                <a:latin typeface="Calibri"/>
              </a:rPr>
              <a:t>0.0 %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2651760"/>
            <a:ext cx="12801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2E8B57"/>
                </a:solidFill>
                <a:latin typeface="Calibri"/>
              </a:rPr>
              <a:t>0.441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2651760"/>
            <a:ext cx="31089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1">
                <a:solidFill>
                  <a:srgbClr val="556B78"/>
                </a:solidFill>
                <a:latin typeface="Calibri"/>
              </a:rPr>
              <a:t>Generalização real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2E8B57"/>
                </a:solidFill>
                <a:latin typeface="Calibri"/>
              </a:rPr>
              <a:t>Generalização verdadeira: 44 %  (vs 88 % memorização)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556B78"/>
                </a:solidFill>
                <a:latin typeface="Calibri"/>
              </a:rPr>
              <a:t>Reportamos todos os três no notebook — honestidade &gt; apresentação inflada.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121E3F"/>
                </a:solidFill>
                <a:latin typeface="Calibri"/>
              </a:rPr>
              <a:t>Baselines de referência: random 7 %  ·  always-drop_3 = 28 %  ·  ID3 GROUPED = 44 %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56B78"/>
                </a:solidFill>
                <a:latin typeface="Calibri"/>
              </a:rPr>
              <a:t>PopOut AI — IA 2025/2026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4846320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6B78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640080" cy="29260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64008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7315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21295C"/>
                </a:solidFill>
                <a:latin typeface="Calibri"/>
              </a:rPr>
              <a:t>Resultados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606040" cy="1417320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2606040" cy="7315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26060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200" b="1" i="0">
                <a:solidFill>
                  <a:srgbClr val="1C7293"/>
                </a:solidFill>
                <a:latin typeface="Calibri"/>
              </a:rPr>
              <a:t>13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26060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556B78"/>
                </a:solidFill>
                <a:latin typeface="Calibri"/>
              </a:rPr>
              <a:t>iter/s
(FlatNumba)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960120"/>
            <a:ext cx="2606040" cy="1417320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960120"/>
            <a:ext cx="2606040" cy="7315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143000"/>
            <a:ext cx="26060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200" b="1" i="0">
                <a:solidFill>
                  <a:srgbClr val="065A82"/>
                </a:solidFill>
                <a:latin typeface="Calibri"/>
              </a:rPr>
              <a:t>44 %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874519"/>
            <a:ext cx="26060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556B78"/>
                </a:solidFill>
                <a:latin typeface="Calibri"/>
              </a:rPr>
              <a:t>generalização
ID3 GROUPED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960120"/>
            <a:ext cx="2606040" cy="1417320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960120"/>
            <a:ext cx="2606040" cy="73152"/>
          </a:xfrm>
          <a:prstGeom prst="rect">
            <a:avLst/>
          </a:prstGeom>
          <a:solidFill>
            <a:srgbClr val="E57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143000"/>
            <a:ext cx="26060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200" b="1" i="0">
                <a:solidFill>
                  <a:srgbClr val="E5714E"/>
                </a:solidFill>
                <a:latin typeface="Calibri"/>
              </a:rPr>
              <a:t>52 %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874519"/>
            <a:ext cx="260604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556B78"/>
                </a:solidFill>
                <a:latin typeface="Calibri"/>
              </a:rPr>
              <a:t>win-rate vs
Solver 100k</a:t>
            </a:r>
          </a:p>
        </p:txBody>
      </p:sp>
      <p:pic>
        <p:nvPicPr>
          <p:cNvPr id="18" name="Picture 17" descr="speed_quality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06040"/>
            <a:ext cx="5029200" cy="300390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60720" y="265176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1295C"/>
                </a:solidFill>
                <a:latin typeface="Calibri"/>
              </a:rPr>
              <a:t>Pontos a destacar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017520"/>
            <a:ext cx="3017520" cy="1645920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1C7293"/>
                </a:solidFill>
                <a:latin typeface="Calibri"/>
              </a:rPr>
              <a:t>•  </a:t>
            </a:r>
            <a:r>
              <a:rPr sz="1100">
                <a:solidFill>
                  <a:srgbClr val="121E3F"/>
                </a:solidFill>
                <a:latin typeface="Calibri"/>
              </a:rPr>
              <a:t>ID3 híbrido paridade com Solver 100k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1C7293"/>
                </a:solidFill>
                <a:latin typeface="Calibri"/>
              </a:rPr>
              <a:t>•  </a:t>
            </a:r>
            <a:r>
              <a:rPr sz="1100">
                <a:solidFill>
                  <a:srgbClr val="121E3F"/>
                </a:solidFill>
                <a:latin typeface="Calibri"/>
              </a:rPr>
              <a:t>FlatNumba domina em alto budget</a:t>
            </a:r>
          </a:p>
          <a:p>
            <a:pPr algn="l">
              <a:spcAft>
                <a:spcPts val="800"/>
              </a:spcAft>
            </a:pPr>
            <a:r>
              <a:rPr sz="1100" b="1">
                <a:solidFill>
                  <a:srgbClr val="1C7293"/>
                </a:solidFill>
                <a:latin typeface="Calibri"/>
              </a:rPr>
              <a:t>•  </a:t>
            </a:r>
            <a:r>
              <a:rPr sz="1100">
                <a:solidFill>
                  <a:srgbClr val="121E3F"/>
                </a:solidFill>
                <a:latin typeface="Calibri"/>
              </a:rPr>
              <a:t>ID3 ideal para inference em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56B78"/>
                </a:solidFill>
                <a:latin typeface="Calibri"/>
              </a:rPr>
              <a:t>PopOut AI — IA 2025/2026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846320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6B78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640080" cy="29260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9184"/>
            <a:ext cx="640080" cy="29260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74320"/>
            <a:ext cx="73152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21295C"/>
                </a:solidFill>
                <a:latin typeface="Calibri"/>
              </a:rPr>
              <a:t>Dificuldades &amp; Soluções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E6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28600" cy="9601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Tree reuse com flat arrays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76809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21E3F"/>
                </a:solidFill>
                <a:latin typeface="Calibri"/>
              </a:rPr>
              <a:t>Solução: BFS compaction re-indexa pai/filhos para slots 0..k antes do kernel.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40280"/>
            <a:ext cx="228600" cy="960120"/>
          </a:xfrm>
          <a:prstGeom prst="rect">
            <a:avLst/>
          </a:prstGeom>
          <a:solidFill>
            <a:srgbClr val="E57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Data leakage não-óbvio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97480"/>
            <a:ext cx="76809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21E3F"/>
                </a:solidFill>
                <a:latin typeface="Calibri"/>
              </a:rPr>
              <a:t>Solução: Auditoria com 3 splits paralelos → adopção de split agrupado por estado.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29000"/>
            <a:ext cx="228600" cy="9601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474720"/>
            <a:ext cx="3657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1295C"/>
                </a:solidFill>
                <a:latin typeface="Calibri"/>
              </a:rPr>
              <a:t>Classes desequilibradas (89 % drops)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86200"/>
            <a:ext cx="76809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121E3F"/>
                </a:solidFill>
                <a:latin typeface="Calibri"/>
              </a:rPr>
              <a:t>Solução: Oversampling controlado de proven (×4) — validado empiricamente.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556B78"/>
                </a:solidFill>
                <a:latin typeface="Calibri"/>
              </a:rPr>
              <a:t>PopOut AI — IA 2025/2026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846320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556B78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772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Conclusão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960120"/>
            <a:ext cx="1371600" cy="457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2468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Requisitos do guião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64592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554480"/>
            <a:ext cx="2286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E6F1F5"/>
                </a:solidFill>
                <a:latin typeface="Calibri"/>
              </a:rPr>
              <a:t>3 cenários (HvH/HvC/CvC)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64592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828800"/>
            <a:ext cx="2286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E6F1F5"/>
                </a:solidFill>
                <a:latin typeface="Calibri"/>
              </a:rPr>
              <a:t>MCTS com 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164592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103120"/>
            <a:ext cx="2286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E6F1F5"/>
                </a:solidFill>
                <a:latin typeface="Calibri"/>
              </a:rPr>
              <a:t>Variantes além do standard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77439"/>
            <a:ext cx="164592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377439"/>
            <a:ext cx="2286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E6F1F5"/>
                </a:solidFill>
                <a:latin typeface="Calibri"/>
              </a:rPr>
              <a:t>ID3 from scratch (sem sklearn)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51760"/>
            <a:ext cx="164592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651760"/>
            <a:ext cx="2286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E6F1F5"/>
                </a:solidFill>
                <a:latin typeface="Calibri"/>
              </a:rPr>
              <a:t>Iris + dataset PopOut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1188720"/>
            <a:ext cx="2468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Contribuições técnicas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1554480"/>
            <a:ext cx="164592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1608" y="1554480"/>
            <a:ext cx="2286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E6F1F5"/>
                </a:solidFill>
                <a:latin typeface="Calibri"/>
              </a:rPr>
              <a:t>MCTS-Solver com proof propagation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828800"/>
            <a:ext cx="164592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1608" y="1828800"/>
            <a:ext cx="2286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E6F1F5"/>
                </a:solidFill>
                <a:latin typeface="Calibri"/>
              </a:rPr>
              <a:t>Tree reuse com BFS compaction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103120"/>
            <a:ext cx="164592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1608" y="2103120"/>
            <a:ext cx="2286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E6F1F5"/>
                </a:solidFill>
                <a:latin typeface="Calibri"/>
              </a:rPr>
              <a:t>Kernels Numba: 13 M iter/s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2377439"/>
            <a:ext cx="164592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21608" y="2377439"/>
            <a:ext cx="2286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E6F1F5"/>
                </a:solidFill>
                <a:latin typeface="Calibri"/>
              </a:rPr>
              <a:t>2 200 linhas de testes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651760"/>
            <a:ext cx="164592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21608" y="2651760"/>
            <a:ext cx="2286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E6F1F5"/>
                </a:solidFill>
                <a:latin typeface="Calibri"/>
              </a:rPr>
              <a:t>Pipeline reprodutível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1188720"/>
            <a:ext cx="2468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  <a:latin typeface="Calibri"/>
              </a:rPr>
              <a:t>Rigor &amp; honestidade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1554480"/>
            <a:ext cx="164592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1554480"/>
            <a:ext cx="2286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E6F1F5"/>
                </a:solidFill>
                <a:latin typeface="Calibri"/>
              </a:rPr>
              <a:t>3 splits comparados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1828800"/>
            <a:ext cx="164592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1828800"/>
            <a:ext cx="2286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E6F1F5"/>
                </a:solidFill>
                <a:latin typeface="Calibri"/>
              </a:rPr>
              <a:t>Híbrido declarado explicitamente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2103120"/>
            <a:ext cx="164592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2103120"/>
            <a:ext cx="2286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E6F1F5"/>
                </a:solidFill>
                <a:latin typeface="Calibri"/>
              </a:rPr>
              <a:t>Limitações documentadas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2377439"/>
            <a:ext cx="164592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2377439"/>
            <a:ext cx="2286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E6F1F5"/>
                </a:solidFill>
                <a:latin typeface="Calibri"/>
              </a:rPr>
              <a:t>Baselines reportadas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2651760"/>
            <a:ext cx="164592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2651760"/>
            <a:ext cx="22860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E6F1F5"/>
                </a:solidFill>
                <a:latin typeface="Calibri"/>
              </a:rPr>
              <a:t>Notebook auto-contido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3931920"/>
            <a:ext cx="7772400" cy="7772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4023360"/>
            <a:ext cx="7498079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E6F1F5"/>
                </a:solidFill>
                <a:latin typeface="Calibri"/>
              </a:rPr>
              <a:t>Trabalho futuro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4297680"/>
            <a:ext cx="749807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Zobrist hashing + transposition tables   ·   AMAF/RAVE   ·   Opening books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1">
                <a:solidFill>
                  <a:srgbClr val="E6F1F5"/>
                </a:solidFill>
                <a:latin typeface="Calibri"/>
              </a:rPr>
              <a:t>github.com/Difl4/popout-ai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