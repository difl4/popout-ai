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06640" y="3931920"/>
            <a:ext cx="274320" cy="2743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35823" y="3931920"/>
            <a:ext cx="274320" cy="27432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65008" y="393192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94192" y="3931920"/>
            <a:ext cx="274320" cy="27432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06640" y="4261104"/>
            <a:ext cx="274320" cy="2743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35823" y="426110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65008" y="4261104"/>
            <a:ext cx="274320" cy="27432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868680"/>
            <a:ext cx="77724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5AA4B8"/>
                </a:solidFill>
                <a:latin typeface="Calibri"/>
              </a:rPr>
              <a:t>INTELIGÊNCIA ARTIFICIAL  ·  2025 /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280160"/>
            <a:ext cx="7772400" cy="9601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mbria"/>
              </a:rPr>
              <a:t>PopOut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777240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0" i="1">
                <a:solidFill>
                  <a:srgbClr val="E6F1F5"/>
                </a:solidFill>
                <a:latin typeface="Calibri"/>
              </a:rPr>
              <a:t>MCTS + ID3 para uma variante do Connect-4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07792"/>
            <a:ext cx="1463040" cy="2743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1" i="0">
                <a:solidFill>
                  <a:srgbClr val="5AA4B8"/>
                </a:solidFill>
                <a:latin typeface="Calibri"/>
              </a:rPr>
              <a:t>GRUPO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3756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Duarte Meneses dos Santos Sousa Gomes   ·   202409386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11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José Paulo Pacheco de Sousa   ·   202405046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8620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Tiago Braga da Cruz Frada de Sousa   ·   202405406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5AA4B8"/>
                </a:solidFill>
                <a:latin typeface="Calibri"/>
              </a:rPr>
              <a:t>github.com/Difl4/popout-ai   ·  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1691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Problema &amp; Requisitos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PopOut + 3 cenários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7832" y="11887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27832" y="1188720"/>
            <a:ext cx="91440" cy="16916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3716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065A82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18288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Arquitectura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2240280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Engine · Agentes · 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98464" y="11887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98464" y="1188720"/>
            <a:ext cx="91440" cy="16916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7064" y="13716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8288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Pesquisa Adversarial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240280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MCTS · UCT · Solver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175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91440" cy="16916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2004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F4A341"/>
                </a:solidFill>
                <a:latin typeface="Cambr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576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Decision Trees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069079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ID3 · Iris · PopOut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7832" y="30175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27832" y="3017520"/>
            <a:ext cx="91440" cy="1691640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6432" y="32004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E5714E"/>
                </a:solidFill>
                <a:latin typeface="Cambri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432" y="36576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Resultados &amp; Dificuldades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6432" y="4069079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Métricas · Trade-offs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98464" y="30175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98464" y="3017520"/>
            <a:ext cx="91440" cy="16916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32004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mbria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27064" y="36576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Conclusão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7064" y="4069079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Síntese · Trabalho futuro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O Problema: PopOut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Connect-4 com uma jogada adicional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5720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Mecânica do jogo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4572000" cy="137160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Tabuleiro 7 × 6, dois jogadores alternam.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DROP: largar peça por cima da coluna.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POP: remover peça própria do fundo — peças acima descem.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Vencedor: 4 alinhadas (horizontal / vertical / diagonal).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45720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Três regras especiais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4572000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Pop simultâneo (4-em-linha para ambos) → ganha quem fez o pop.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Tabuleiro cheio: o jogador a mover pode declarar empate.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Repetição tripla: qualquer um pode declarar empate.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188720"/>
            <a:ext cx="2926080" cy="2514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16752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45936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0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4304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33488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62671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91855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16752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45936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75120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004304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33488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62671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91855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16752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75120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04304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33488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62671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91855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016752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45936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75120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04304" y="2482596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33488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662671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991855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16752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45936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675120" y="2811780"/>
            <a:ext cx="256031" cy="25603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004304" y="2811780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33488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662671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991855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16752" y="3140963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45936" y="3140963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675120" y="3140963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004304" y="3140963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33488" y="3140963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662671" y="3140963"/>
            <a:ext cx="256031" cy="25603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91855" y="3140963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0" y="3794759"/>
            <a:ext cx="29260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F4A341"/>
                </a:solidFill>
                <a:latin typeface="Cambria"/>
              </a:rPr>
              <a:t>↑  POP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0" y="411480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DROP em qualquer coluna, ou POP
removendo peça própria do fundo.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Requisitos do Guião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§4 do IA_2526_Trab.pdf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0233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Cenários de jogo (§3)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691640"/>
            <a:ext cx="274320" cy="2743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673352"/>
            <a:ext cx="32918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Humano vs Humano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47672"/>
            <a:ext cx="3291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GUI + CLI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313432"/>
            <a:ext cx="32918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Humano vs Computador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87752"/>
            <a:ext cx="3291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GUI: 13 dificuldades  ·  CLI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2971800"/>
            <a:ext cx="274320" cy="2743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71800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953512"/>
            <a:ext cx="32918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Computador vs Computador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227832"/>
            <a:ext cx="3291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GUI Arena  ·  CLI torneio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Componentes algorítmicos (§4.1 / §4.2)</a:t>
            </a:r>
          </a:p>
        </p:txBody>
      </p:sp>
      <p:sp>
        <p:nvSpPr>
          <p:cNvPr id="21" name="Oval 20"/>
          <p:cNvSpPr/>
          <p:nvPr/>
        </p:nvSpPr>
        <p:spPr>
          <a:xfrm>
            <a:off x="4800600" y="169164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69164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167335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MCTS com UCT</a:t>
            </a:r>
          </a:p>
        </p:txBody>
      </p:sp>
      <p:sp>
        <p:nvSpPr>
          <p:cNvPr id="24" name="Oval 23"/>
          <p:cNvSpPr/>
          <p:nvPr/>
        </p:nvSpPr>
        <p:spPr>
          <a:xfrm>
            <a:off x="4800600" y="205740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05740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3911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Diferentes números de filhos (TopK-UCT)</a:t>
            </a:r>
          </a:p>
        </p:txBody>
      </p:sp>
      <p:sp>
        <p:nvSpPr>
          <p:cNvPr id="27" name="Oval 26"/>
          <p:cNvSpPr/>
          <p:nvPr/>
        </p:nvSpPr>
        <p:spPr>
          <a:xfrm>
            <a:off x="4800600" y="242316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242316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240487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Variantes além do standard (Solver, Numba)</a:t>
            </a:r>
          </a:p>
        </p:txBody>
      </p:sp>
      <p:sp>
        <p:nvSpPr>
          <p:cNvPr id="30" name="Oval 29"/>
          <p:cNvSpPr/>
          <p:nvPr/>
        </p:nvSpPr>
        <p:spPr>
          <a:xfrm>
            <a:off x="4800600" y="278892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278892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77063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ID3 from scratch  ·  sem scikit-learn</a:t>
            </a:r>
          </a:p>
        </p:txBody>
      </p:sp>
      <p:sp>
        <p:nvSpPr>
          <p:cNvPr id="33" name="Oval 32"/>
          <p:cNvSpPr/>
          <p:nvPr/>
        </p:nvSpPr>
        <p:spPr>
          <a:xfrm>
            <a:off x="4800600" y="315468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315468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313639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Iris (com discretização)</a:t>
            </a:r>
          </a:p>
        </p:txBody>
      </p:sp>
      <p:sp>
        <p:nvSpPr>
          <p:cNvPr id="36" name="Oval 35"/>
          <p:cNvSpPr/>
          <p:nvPr/>
        </p:nvSpPr>
        <p:spPr>
          <a:xfrm>
            <a:off x="4800600" y="352044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352044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350215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Dataset PopOut a partir do MCTS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100" b="0" i="1">
                <a:solidFill>
                  <a:srgbClr val="E6F1F5"/>
                </a:solidFill>
                <a:latin typeface="Calibri"/>
              </a:rPr>
              <a:t>Todos os requisitos cumpridos  ·  4 critérios: 30% adversarial  /  30% trees  /  30% técnica  /  10% comunicação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Arquitectura &amp; Contribuições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937760" cy="822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09728" cy="8229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07592"/>
            <a:ext cx="46177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46177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CLI  ·  GUI Pygame  ·  GUI Arena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937760" cy="822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03120"/>
            <a:ext cx="109728" cy="8229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21991"/>
            <a:ext cx="46177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mbria"/>
              </a:rPr>
              <a:t>Agentes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6177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MCTS variantes  ·  ID3 from scratch  ·  Híbridos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4937760" cy="822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017520"/>
            <a:ext cx="109728" cy="8229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36391"/>
            <a:ext cx="46177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mbria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29000"/>
            <a:ext cx="46177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Bitboard 7×6  ·  Regras (3 especiais)  ·  Numba kernels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188720"/>
            <a:ext cx="30175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Distribuição de tarefas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645920"/>
            <a:ext cx="3017520" cy="8686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0" y="1645920"/>
            <a:ext cx="73152" cy="8686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1737360"/>
            <a:ext cx="27432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mbria"/>
              </a:rPr>
              <a:t>Duarte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029968"/>
            <a:ext cx="2743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Bitboard  ·  MCTS-Solver  ·
Kernels Numba  ·  Pipeline ID3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2606040"/>
            <a:ext cx="3017520" cy="8686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0" y="2606040"/>
            <a:ext cx="73152" cy="86868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0" y="2697480"/>
            <a:ext cx="27432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F4A341"/>
                </a:solidFill>
                <a:latin typeface="Cambria"/>
              </a:rPr>
              <a:t>José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2990088"/>
            <a:ext cx="2743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ID3 from scratch  ·  Dataset
generator  ·  Análise leakage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3566160"/>
            <a:ext cx="3017520" cy="8686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0" y="3566160"/>
            <a:ext cx="73152" cy="8686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0" y="3657600"/>
            <a:ext cx="27432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mbria"/>
              </a:rPr>
              <a:t>Tiago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3950208"/>
            <a:ext cx="2743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GUI Pygame  ·  CLI/torneio  ·
Benchmarks  ·  Testes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MCTS: As 4 Fases Canónicas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Cada iteração percorre selection → expansion → simulation → backprop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01168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4420" y="1623060"/>
            <a:ext cx="777240" cy="7772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4420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mbria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UCT escolhe o ramo
com maior promessa.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234440"/>
            <a:ext cx="20116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77540" y="162306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7540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mbria"/>
              </a:rPr>
              <a:t>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Adiciona um novo nó
depois da folha actual.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63440" y="1234440"/>
            <a:ext cx="2011680" cy="73152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80660" y="1623060"/>
            <a:ext cx="777240" cy="77724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80660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21295C"/>
                </a:solidFill>
                <a:latin typeface="Cambria"/>
              </a:rPr>
              <a:t>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Rollout aleatório até
fim ou profundidade limite.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66560" y="1234440"/>
            <a:ext cx="2011680" cy="7315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83779" y="1623060"/>
            <a:ext cx="777240" cy="77724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83779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F4A341"/>
                </a:solidFill>
                <a:latin typeface="Cambria"/>
              </a:rPr>
              <a:t>Backpropagation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Actualiza visitas e
valor ao subir.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6B7A88"/>
                </a:solidFill>
                <a:latin typeface="Calibri"/>
              </a:rPr>
              <a:t>→ repete milhares a milhões de vezes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UCT + Variantes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Exploração vs exploitation com prova de convergência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3840480" cy="324612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38404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300" b="1" i="0">
                <a:solidFill>
                  <a:srgbClr val="F4A341"/>
                </a:solidFill>
                <a:latin typeface="Cambria"/>
              </a:rPr>
              <a:t>Fórmula 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384048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Q  +  C · √(ln N / 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2697480"/>
            <a:ext cx="2011680" cy="1828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Q  ·  taxa de vitória média do filho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5468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  ·  visitas do nó pai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  ·  visitas do filho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9476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E6F1F5"/>
                </a:solidFill>
                <a:latin typeface="Calibri"/>
              </a:rPr>
              <a:t>C  ·  √2 ≈ 1.414  (Kocsis &amp; Szepesvári)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60520"/>
            <a:ext cx="38404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F4A341"/>
                </a:solidFill>
                <a:latin typeface="Calibri"/>
              </a:rPr>
              <a:t>Visit unvisited first  →  score = +∞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18872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Cinco variantes implementadas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1645920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0" y="1645920"/>
            <a:ext cx="91440" cy="43891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1691640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StandardUCT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91640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Baseline canónico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176272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0" y="2176272"/>
            <a:ext cx="91440" cy="43891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2221991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ExperimentalUCT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221991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Prioriza não-visitados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2706624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0" y="2706624"/>
            <a:ext cx="91440" cy="43891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2752344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TopK-UCT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752344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Limita a k filhos  (§4.1)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3236976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0" y="3236976"/>
            <a:ext cx="91440" cy="438912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3282696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E5714E"/>
                </a:solidFill>
                <a:latin typeface="Calibri"/>
              </a:rPr>
              <a:t>MCTS-Solver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282696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Propaga provas matemáticas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3767328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0" y="3767328"/>
            <a:ext cx="91440" cy="43891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3813048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Numba (4 var.)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813048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Kernels @njit  ·  ~13M iter/s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Análise do Número de Filhos (k)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Requisito §4.1 — explorar diferentes números de filhos seleccionados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Variante TopK-UCT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4114800" cy="11887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Após cada filho visitado pelo menos 1×, restringe a selecção aos K filhos com maior UCT.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Reduz ramos com baixa Q sem cortar exploração inicial.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Hiperparâmetro k controla a largura da pesquisa.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Metodologia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4114800" cy="100584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15 estados aleatórios  ·  600 iter por agente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k ∈ {3, 5, 7, 14}  (todos)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Métrica: consistência da jogada óptima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4114800" cy="3200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k = 7 já preserva 100 % da consistência do baseline.</a:t>
            </a:r>
          </a:p>
        </p:txBody>
      </p:sp>
      <p:pic>
        <p:nvPicPr>
          <p:cNvPr id="13" name="Picture 12" descr="mcts_k_child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931920" cy="13553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54880" y="2743200"/>
            <a:ext cx="39319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Resultados observados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108960"/>
            <a:ext cx="3931920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Consistência estável em k ∈ {3, 5, 7, 10, 14}.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Concordância com k=14 (standard) próxima de 33 %.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Custo computacional cresce linearmente com 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MCTS-Solver: do Probabilístico ao Demonstrado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Propagação AND/OR de WIN / LOSS / DRAW + distância minimax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42976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Regras de propagação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1097280" cy="4572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0972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0200"/>
            <a:ext cx="30175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∃ filho LOSS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097280" cy="457200"/>
          </a:xfrm>
          <a:prstGeom prst="rect">
            <a:avLst/>
          </a:prstGeom>
          <a:solidFill>
            <a:srgbClr val="C1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10972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194560"/>
            <a:ext cx="30175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TODOS filhos WIN  ·  fully expanded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88920"/>
            <a:ext cx="1097280" cy="45720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88920"/>
            <a:ext cx="10972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DRAW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788920"/>
            <a:ext cx="30175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todos DRAW ou consenso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74720"/>
            <a:ext cx="4297680" cy="10972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520440"/>
            <a:ext cx="429768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200" b="1" i="0">
                <a:solidFill>
                  <a:srgbClr val="21295C"/>
                </a:solidFill>
                <a:latin typeface="Cambria"/>
              </a:rPr>
              <a:t>Distância minimax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40480"/>
            <a:ext cx="3931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onsolas"/>
              </a:rPr>
              <a:t>WIN  →  min( dist(filho) ) + 1   (win fast)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3931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onsolas"/>
              </a:rPr>
              <a:t>LOSS  →  max( dist(filho) ) + 1   (lose slow)</a:t>
            </a:r>
          </a:p>
        </p:txBody>
      </p:sp>
      <p:sp>
        <p:nvSpPr>
          <p:cNvPr id="21" name="Oval 20"/>
          <p:cNvSpPr/>
          <p:nvPr/>
        </p:nvSpPr>
        <p:spPr>
          <a:xfrm>
            <a:off x="6537960" y="114300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14300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1234440"/>
            <a:ext cx="13716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6B7A88"/>
                </a:solidFill>
                <a:latin typeface="Calibri"/>
              </a:rPr>
              <a:t>root  ·  to move</a:t>
            </a:r>
          </a:p>
        </p:txBody>
      </p:sp>
      <p:sp>
        <p:nvSpPr>
          <p:cNvPr id="24" name="Oval 23"/>
          <p:cNvSpPr/>
          <p:nvPr/>
        </p:nvSpPr>
        <p:spPr>
          <a:xfrm>
            <a:off x="5120640" y="214884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214884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5326379" y="1554480"/>
            <a:ext cx="1417321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537960" y="2148840"/>
            <a:ext cx="411480" cy="411480"/>
          </a:xfrm>
          <a:prstGeom prst="ellipse">
            <a:avLst/>
          </a:prstGeom>
          <a:solidFill>
            <a:srgbClr val="C1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14884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743700" y="1554480"/>
            <a:ext cx="0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955279" y="214884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214884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743700" y="1554480"/>
            <a:ext cx="1417319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46320" y="3154680"/>
            <a:ext cx="365760" cy="3657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3154680"/>
            <a:ext cx="36576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5029200" y="2560320"/>
            <a:ext cx="297180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394960" y="3154680"/>
            <a:ext cx="365760" cy="3657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3154680"/>
            <a:ext cx="36576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26380" y="2560320"/>
            <a:ext cx="251460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9200" y="3337560"/>
            <a:ext cx="3657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1" i="1">
                <a:solidFill>
                  <a:srgbClr val="2E8B57"/>
                </a:solidFill>
                <a:latin typeface="Calibri"/>
              </a:rPr>
              <a:t>Filho LOSS → root provado WIN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3657600"/>
            <a:ext cx="3657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Folhas confirmadas propagam para cima.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4023360"/>
            <a:ext cx="365760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334455"/>
                </a:solidFill>
                <a:latin typeface="Calibri"/>
              </a:rPr>
              <a:t>Pesquisa pode terminar mais cedo:
basta uma jogada provada vencedora.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Tree Reuse + Numba: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Duas optimizações ortogonais — ~1400× speedup combinado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Tree Reuse  ·  reaproveita sub-árvore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20116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6B7A88"/>
                </a:solidFill>
                <a:latin typeface="Calibri"/>
              </a:rPr>
              <a:t>ANTES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645920" cy="10515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1874519"/>
            <a:ext cx="182880" cy="1828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2240280"/>
            <a:ext cx="164592" cy="164592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71600" y="2240280"/>
            <a:ext cx="164592" cy="164592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7360" y="2240280"/>
            <a:ext cx="164592" cy="164592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71600" y="2240280"/>
            <a:ext cx="164592" cy="164592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88720" y="2606040"/>
            <a:ext cx="128016" cy="128016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554480" y="2606040"/>
            <a:ext cx="128016" cy="128016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423160" y="2331720"/>
            <a:ext cx="411480" cy="0"/>
          </a:xfrm>
          <a:prstGeom prst="bentConnector3">
            <a:avLst/>
          </a:prstGeom>
          <a:ln w="381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926080" y="1508760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6B7A88"/>
                </a:solidFill>
                <a:latin typeface="Calibri"/>
              </a:rPr>
              <a:t>DEPOIS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1783080"/>
            <a:ext cx="1417320" cy="10515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721608" y="1920240"/>
            <a:ext cx="182880" cy="18288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38728" y="2286000"/>
            <a:ext cx="146304" cy="146304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04488" y="2286000"/>
            <a:ext cx="146304" cy="146304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92608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BFS compaction re-indexa nós para slots 0..k antes do kernel.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1143000"/>
            <a:ext cx="39319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Numba JIT  ·  throughput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1554480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StandardUCT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1554480"/>
            <a:ext cx="466760" cy="292608"/>
          </a:xfrm>
          <a:prstGeom prst="rect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84680" y="1554480"/>
            <a:ext cx="77724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9 iter/s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1956816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NumbaMCTS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956816"/>
            <a:ext cx="797025" cy="2926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14945" y="1956816"/>
            <a:ext cx="77724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50 iter/s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359152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FlatNumbaMCTS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2359152"/>
            <a:ext cx="1052671" cy="29260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0591" y="2359152"/>
            <a:ext cx="77724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179 iter/s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2761488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FlatNumbaSolverMCTS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2761488"/>
            <a:ext cx="1039888" cy="29260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57808" y="2761488"/>
            <a:ext cx="77724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168 iter/s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3163824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ReuseFlat (peak)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3163824"/>
            <a:ext cx="1920240" cy="292608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3163824"/>
            <a:ext cx="77724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13k iter/s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114800"/>
            <a:ext cx="39319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log-scale  ·  unidades: iter/s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434840"/>
            <a:ext cx="4114800" cy="36576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43484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300" b="1" i="0">
                <a:solidFill>
                  <a:srgbClr val="21295C"/>
                </a:solidFill>
                <a:latin typeface="Cambria"/>
              </a:rPr>
              <a:t>≈ 1400× speedup  vs  Python puro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ID3: Decision Tree do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Sem scikit-learn  ·  apenas numpy + pandas para data wrangling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2697480" cy="3108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269748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6400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Cambr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71600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21E3F"/>
                </a:solidFill>
                <a:latin typeface="Calibri"/>
              </a:rPr>
              <a:t>Entropia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920240"/>
            <a:ext cx="2423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0240"/>
            <a:ext cx="24231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onsolas"/>
              </a:rPr>
              <a:t>H = − Σ pᵢ · log₂(pᵢ)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2331720" cy="11887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Mede a impureza
do conjunto.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27832" y="1143000"/>
            <a:ext cx="2697480" cy="3108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27832" y="1143000"/>
            <a:ext cx="2697480" cy="91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64992" y="1325880"/>
            <a:ext cx="6400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065A82"/>
                </a:solidFill>
                <a:latin typeface="Cambr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6512" y="1371600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21E3F"/>
                </a:solidFill>
                <a:latin typeface="Calibri"/>
              </a:rPr>
              <a:t>Information Gain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4992" y="1920240"/>
            <a:ext cx="2423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64992" y="1920240"/>
            <a:ext cx="24231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onsolas"/>
              </a:rPr>
              <a:t>IG = H(S) − Σ |Sv|/|S| · H(Sv)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2651760"/>
            <a:ext cx="2331720" cy="11887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Ganho de informação
ao dividir por feature.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98464" y="1143000"/>
            <a:ext cx="2697480" cy="3108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98464" y="1143000"/>
            <a:ext cx="2697480" cy="914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35624" y="1325880"/>
            <a:ext cx="6400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F4A341"/>
                </a:solidFill>
                <a:latin typeface="Cambria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7144" y="1371600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21E3F"/>
                </a:solidFill>
                <a:latin typeface="Calibri"/>
              </a:rPr>
              <a:t>Split Recursivo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35624" y="1920240"/>
            <a:ext cx="2423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F4A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35624" y="1920240"/>
            <a:ext cx="24231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4A341"/>
                </a:solidFill>
                <a:latin typeface="Consolas"/>
              </a:rPr>
              <a:t>feature* = argmax 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651760"/>
            <a:ext cx="2331720" cy="11887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Repete até nó puro,
max_depth, ou sem features.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6B7A88"/>
                </a:solidFill>
                <a:latin typeface="Calibri"/>
              </a:rPr>
              <a:t>src/decision_tree/id3/learner.py  ·  100% próprio  ·  47 testes a passar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Iris (Warm-up)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Validar o ID3 antes do dataset PopOut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Metodologia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4114800" cy="137160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Discretização quantile  (q = 3 bins por feature)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5 × 10-fold cross-validation  →  50 runs independentes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max_depth = 10  ·  sem post-pruning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Discretizer fit por fold (sem leakage)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17520"/>
            <a:ext cx="1920240" cy="14173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192024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1920240" cy="63779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400" b="1" i="0">
                <a:solidFill>
                  <a:srgbClr val="2E8B57"/>
                </a:solidFill>
                <a:latin typeface="Cambria"/>
              </a:rPr>
              <a:t>95.07 %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8778"/>
            <a:ext cx="1737360" cy="4251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média 50 folds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3017520"/>
            <a:ext cx="2057400" cy="14173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4600" y="3017520"/>
            <a:ext cx="205740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4600" y="3200400"/>
            <a:ext cx="2057400" cy="63779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400" b="1" i="0">
                <a:solidFill>
                  <a:srgbClr val="065A82"/>
                </a:solidFill>
                <a:latin typeface="Cambria"/>
              </a:rPr>
              <a:t>± 5.63 %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938778"/>
            <a:ext cx="1874519" cy="4251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desvio padrão</a:t>
            </a:r>
          </a:p>
        </p:txBody>
      </p:sp>
      <p:pic>
        <p:nvPicPr>
          <p:cNvPr id="17" name="Picture 16" descr="iris_id3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3840480" cy="166548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46320" y="4343400"/>
            <a:ext cx="3840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Árvore ID3 — exemplo de 1 fold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Geração do Dataset PopOut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MCTS-Solver de 100k iterações etiqueta cada posição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92024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Self-play
+ blunder tiers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86584" y="1383030"/>
            <a:ext cx="164592" cy="388620"/>
          </a:xfrm>
          <a:prstGeom prst="rightArrow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0" y="1188720"/>
            <a:ext cx="1920240" cy="777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Oracle
ReuseSolver 100k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9704" y="1383030"/>
            <a:ext cx="164592" cy="388620"/>
          </a:xfrm>
          <a:prstGeom prst="rightArrow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1188720"/>
            <a:ext cx="1920240" cy="7772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Mirror
horizontal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92824" y="1383030"/>
            <a:ext cx="164592" cy="388620"/>
          </a:xfrm>
          <a:prstGeom prst="rightArrow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6560" y="1188720"/>
            <a:ext cx="1920240" cy="7772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CSV
193 k posições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331720"/>
            <a:ext cx="192024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1C7293"/>
                </a:solidFill>
                <a:latin typeface="Cambria"/>
              </a:rPr>
              <a:t>193 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posições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0" y="2331720"/>
            <a:ext cx="192024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065A82"/>
                </a:solidFill>
                <a:latin typeface="Cambria"/>
              </a:rPr>
              <a:t>16 cores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geração paralela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2331720"/>
            <a:ext cx="1920240" cy="7315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F4A341"/>
                </a:solidFill>
                <a:latin typeface="Cambria"/>
              </a:rPr>
              <a:t>~ 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tempo total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2331720"/>
            <a:ext cx="192024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2E8B57"/>
                </a:solidFill>
                <a:latin typeface="Cambria"/>
              </a:rPr>
              <a:t>39 %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provadas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Diversidade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334455"/>
                </a:solidFill>
                <a:latin typeface="Calibri"/>
              </a:rPr>
              <a:t>Aberturas forçadas (7 × 7 = 49 combos)   ·   3 tiers de blunder (5 % / 25 % / 50 %)   ·   Mirroring duplica gratuitamente.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Rigor Metodológico: Detecção do 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Auditoria do pipeline expôs duas camadas de leakage train/test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38404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251460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79" y="1188720"/>
            <a:ext cx="173736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188720"/>
            <a:ext cx="128016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Test acc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188720"/>
            <a:ext cx="2240279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Diagnóstico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45920"/>
            <a:ext cx="8229600" cy="475488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645920"/>
            <a:ext cx="91440" cy="475488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645920"/>
            <a:ext cx="25146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21E3F"/>
                </a:solidFill>
                <a:latin typeface="Calibri"/>
              </a:rPr>
              <a:t>BUGGY (notebook original)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79" y="1645920"/>
            <a:ext cx="17373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0">
                <a:solidFill>
                  <a:srgbClr val="121E3F"/>
                </a:solidFill>
                <a:latin typeface="Consolas"/>
              </a:rPr>
              <a:t>94.9 %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1645920"/>
            <a:ext cx="12801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E5714E"/>
                </a:solidFill>
                <a:latin typeface="Consolas"/>
              </a:rPr>
              <a:t>0.876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240279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Bug do reset_index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48840"/>
            <a:ext cx="82296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148840"/>
            <a:ext cx="91440" cy="475488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148840"/>
            <a:ext cx="25146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21E3F"/>
                </a:solidFill>
                <a:latin typeface="Calibri"/>
              </a:rPr>
              <a:t>RANDOM (row-level)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79" y="2148840"/>
            <a:ext cx="17373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0">
                <a:solidFill>
                  <a:srgbClr val="121E3F"/>
                </a:solidFill>
                <a:latin typeface="Consolas"/>
              </a:rPr>
              <a:t>80.4 %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2148840"/>
            <a:ext cx="12801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F4A341"/>
                </a:solidFill>
                <a:latin typeface="Consolas"/>
              </a:rPr>
              <a:t>0.752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48840"/>
            <a:ext cx="2240279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Duplicação intrínseca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651760"/>
            <a:ext cx="8229600" cy="475488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651760"/>
            <a:ext cx="91440" cy="47548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2651760"/>
            <a:ext cx="25146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21E3F"/>
                </a:solidFill>
                <a:latin typeface="Calibri"/>
              </a:rPr>
              <a:t>GROUPED (state)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79" y="2651760"/>
            <a:ext cx="17373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0">
                <a:solidFill>
                  <a:srgbClr val="121E3F"/>
                </a:solidFill>
                <a:latin typeface="Consolas"/>
              </a:rPr>
              <a:t>0.0 %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2651760"/>
            <a:ext cx="12801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2E8B57"/>
                </a:solidFill>
                <a:latin typeface="Consolas"/>
              </a:rPr>
              <a:t>0.441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651760"/>
            <a:ext cx="2240279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Generalização verdadeira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Generalização real:  44 %   (vs 88 % memorização)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121E3F"/>
                </a:solidFill>
                <a:latin typeface="Calibri"/>
              </a:rPr>
              <a:t>Baselines  ·  random: 7 %    ·   always-`drop_3`: 28 %    ·   ID3 (GROUPED): 44 %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6B7A88"/>
                </a:solidFill>
                <a:latin typeface="Calibri"/>
              </a:rPr>
              <a:t>Reportamos os três splits no notebook — honestidade técnica &gt; apresentação inflada.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Agente Híbrido: Árvore + Tactical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A árvore sozinha falha em táctica — o híbrido é a configuração real de jogo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4114800" cy="5029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09728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137160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onsolas"/>
              </a:rPr>
              <a:t>can_win?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23444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Joga vitória imediata.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14600" y="1709928"/>
            <a:ext cx="0" cy="146304"/>
          </a:xfrm>
          <a:prstGeom prst="bentConnector3">
            <a:avLst/>
          </a:prstGeom>
          <a:ln w="254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57200" y="1874519"/>
            <a:ext cx="4114800" cy="5029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09728" cy="502920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0239"/>
            <a:ext cx="137160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E5714E"/>
                </a:solidFill>
                <a:latin typeface="Consolas"/>
              </a:rPr>
              <a:t>opp_wins_next?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920239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Bloqueia ameaça do oponente.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14600" y="2395727"/>
            <a:ext cx="0" cy="146305"/>
          </a:xfrm>
          <a:prstGeom prst="bentConnector3">
            <a:avLst/>
          </a:prstGeom>
          <a:ln w="254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57200" y="2560320"/>
            <a:ext cx="4114800" cy="5029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109728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606039"/>
            <a:ext cx="137160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onsolas"/>
              </a:rPr>
              <a:t>else  →  tree.predict()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2606039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Consulta a árvore ID3.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188720"/>
            <a:ext cx="36576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Porquê?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1600200"/>
            <a:ext cx="3657600" cy="13716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1691640"/>
            <a:ext cx="36576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Tactical accuracy da árvore PURA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2011680"/>
            <a:ext cx="1783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3000" b="1" i="0">
                <a:solidFill>
                  <a:srgbClr val="E5714E"/>
                </a:solidFill>
                <a:latin typeface="Cambria"/>
              </a:rPr>
              <a:t>27 %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834640"/>
            <a:ext cx="1783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opp_wins_next=1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011680"/>
            <a:ext cx="1783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3000" b="1" i="0">
                <a:solidFill>
                  <a:srgbClr val="E5714E"/>
                </a:solidFill>
                <a:latin typeface="Cambria"/>
              </a:rPr>
              <a:t>14 %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834640"/>
            <a:ext cx="1783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pop moves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3200400"/>
            <a:ext cx="3657600" cy="128016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3291840"/>
            <a:ext cx="338328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1" i="0">
                <a:solidFill>
                  <a:srgbClr val="21295C"/>
                </a:solidFill>
                <a:latin typeface="Calibri"/>
              </a:rPr>
              <a:t>Honestidade académica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3611880"/>
            <a:ext cx="3383280" cy="8229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121E3F"/>
                </a:solidFill>
                <a:latin typeface="Calibri"/>
              </a:rPr>
              <a:t>Os win-rates reportados são do HÍBRIDO (tree + lookahead), nunca da árvore isolada. Isto está declarado na cell 0 do notebook.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Resultados Globais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ID3 híbrido em paridade com Solver 100k a uma fracção do tempo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196596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1C7293"/>
                </a:solidFill>
                <a:latin typeface="Cambria"/>
              </a:rPr>
              <a:t>13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iter/s
(FlatNumba)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14600" y="1143000"/>
            <a:ext cx="196596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065A82"/>
                </a:solidFill>
                <a:latin typeface="Cambria"/>
              </a:rPr>
              <a:t>44 %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generalização
(ID3 GROUPED)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1143000"/>
            <a:ext cx="1965960" cy="7315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F4A341"/>
                </a:solidFill>
                <a:latin typeface="Cambria"/>
              </a:rPr>
              <a:t>52 %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win-rate vs
Solver 100k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29400" y="1143000"/>
            <a:ext cx="196596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2E8B57"/>
                </a:solidFill>
                <a:latin typeface="Cambria"/>
              </a:rPr>
              <a:t>&lt; 2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inference ID3
por jogada</a:t>
            </a:r>
          </a:p>
        </p:txBody>
      </p:sp>
      <p:pic>
        <p:nvPicPr>
          <p:cNvPr id="23" name="Picture 22" descr="speed_quality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97480"/>
            <a:ext cx="3521088" cy="21031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52160" y="2697480"/>
            <a:ext cx="28346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mbria"/>
              </a:rPr>
              <a:t>Conclusões empíricas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3063240"/>
            <a:ext cx="2834640" cy="169164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ID3 híbrido paridade contra Solver 100k.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FlatNumba domina em alto budget.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Trade-off claro: qualidade vs latência.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Forte vantagem do primeiro a jogar.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Dificuldades &amp; Soluções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3716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23444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Tree reuse com flat arrays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5544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BFS compaction re-indexa pai/filhos antes do kernel.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574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137160" cy="777240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E5714E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14884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Data leakage não-óbvio (state-level)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688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Auditoria + 3 splits comparados  →  split agrupado por estado.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718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971800"/>
            <a:ext cx="137160" cy="7772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63240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F4A341"/>
                </a:solidFill>
                <a:latin typeface="Cambr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06324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Classes desequilibradas (89 % drops)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3832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Oversampling controlado de proven positions (× 4).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137160" cy="7772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mbr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977639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Performance Python insuficiente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2976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Kernels Numba JIT em arrays planos  →  ~1400× speedup.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365760"/>
            <a:ext cx="201168" cy="201168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365760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38160" y="365760"/>
            <a:ext cx="201168" cy="201168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0" y="365760"/>
            <a:ext cx="201168" cy="201168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0" y="365760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5760"/>
            <a:ext cx="7315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Conclusão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914400"/>
            <a:ext cx="1645920" cy="36576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097280"/>
            <a:ext cx="25603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F4A341"/>
                </a:solidFill>
                <a:latin typeface="Cambria"/>
              </a:rPr>
              <a:t>Requisitos do guião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463040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3 cenários (HvH/HvC/CvC)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73936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177393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MCTS com 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084832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084832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Variantes além do 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395728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ID3 from scratch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706624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706624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Iris + dataset PopOut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1097280"/>
            <a:ext cx="25603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mbria"/>
              </a:rPr>
              <a:t>Contribuições técnicas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1463040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048" y="1463040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MCTS-Solver com proof propagation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1773936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3048" y="177393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Tree reuse com BFS compaction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2084832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048" y="2084832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Numba: ~13 M iter/s  ·  1400×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2395728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3048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~2 200 linhas de testes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2706624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3048" y="2706624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Pipeline reprodutível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1097280"/>
            <a:ext cx="25603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2E8B57"/>
                </a:solidFill>
                <a:latin typeface="Cambria"/>
              </a:rPr>
              <a:t>Rigor &amp; honestidade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1463040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1463040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3 splits comparados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1773936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177393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Híbrido declarado explicitamente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2084832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2084832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Limitações documentadas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2395728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Baselines reportadas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706624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0528" y="2706624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Notebook auto-contido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023360"/>
            <a:ext cx="731520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023360"/>
            <a:ext cx="7315200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F4A341"/>
                </a:solidFill>
                <a:latin typeface="Calibri"/>
              </a:rPr>
              <a:t>TRABALHO FUTURO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25196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Zobrist hashing + transposition tables   ·   AMAF / RAVE   ·   Opening books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663440"/>
            <a:ext cx="73152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5AA4B8"/>
                </a:solidFill>
                <a:latin typeface="Calibri"/>
              </a:rPr>
              <a:t>Obrigado  ·  github.com/Difl4/popout-ai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