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21295C"/>
                </a:solidFill>
                <a:latin typeface="Cambria"/>
              </a:rPr>
              <a:t>Numba JIT + FlatNumba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7498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1">
                <a:solidFill>
                  <a:srgbClr val="6B7A88"/>
                </a:solidFill>
                <a:latin typeface="Calibri"/>
              </a:rPr>
              <a:t>From Python to native speed — ~44× more state visits per second, without leaving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8229600" cy="13716"/>
          </a:xfrm>
          <a:prstGeom prst="rect">
            <a:avLst/>
          </a:prstGeom>
          <a:solidFill>
            <a:srgbClr val="C4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402336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Numba JIT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@njit compiles Python → native via LLVM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Decorator on the four MCTS hot loops — select · expand · simulate · backprop.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@njit(cache=True) persists compiled bytecode across runs; explicit warmup() pays the JIT cost up front.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All operations on primitive types (int / float / numpy arrays) — no Python object access inside the kernel.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Chosen over Cython / C extensions: same ~95% of the speed-up, zero extra build chain.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023360" cy="91440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FlatNumba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Whole tree as pre-allocated NumPy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Nodes are integer indices into fixed-size arrays (visits · value · parent · children · status).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Memory layout is contiguous → cache-friendly; no GC pressure, no Python object dispatch.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Tree reuse: BFS compaction re-indexes the surviving subtree to slots 0..k−1 between turns.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Visit budget compounds — each turn inherits ≈12% of the previous turn's search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6002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StandardUCT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461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Python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8999" y="3246120"/>
            <a:ext cx="1646122" cy="274320"/>
          </a:xfrm>
          <a:prstGeom prst="rect">
            <a:avLst/>
          </a:prstGeom>
          <a:solidFill>
            <a:srgbClr val="5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842" y="3246120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5 k /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79"/>
            <a:ext cx="16002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NumbaMCTS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11879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Objects + JIT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8999" y="3611879"/>
            <a:ext cx="1992376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7096" y="3611879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30 k /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16002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FlatNumbaMCTS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977639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Arrays + JIT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8999" y="3977639"/>
            <a:ext cx="237744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59" y="3977639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220 k /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45736"/>
            <a:ext cx="62636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log scale  ·  state visits per second of wall-clock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246120"/>
            <a:ext cx="150876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291840"/>
            <a:ext cx="1508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F4A341"/>
                </a:solidFill>
                <a:latin typeface="Calibri"/>
              </a:rPr>
              <a:t>SPEEDUP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520440"/>
            <a:ext cx="15087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≈ 44×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069080"/>
            <a:ext cx="1508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1">
                <a:solidFill>
                  <a:srgbClr val="5AA4B8"/>
                </a:solidFill>
                <a:latin typeface="Calibri"/>
              </a:rPr>
              <a:t>vs pure Python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5212080" cy="4572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914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62856"/>
            <a:ext cx="49377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Where the ~44× comes from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754880"/>
            <a:ext cx="49377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334455"/>
                </a:solidFill>
                <a:latin typeface="Calibri"/>
              </a:rPr>
              <a:t>Numba JIT alone: ~6×  (5 k → 30 k)   ·   Flat-array layout: another ~7×  (30 k → 220 k).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4526280"/>
            <a:ext cx="2926080" cy="4572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4526280"/>
            <a:ext cx="9144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562856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Practical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754880"/>
            <a:ext cx="2697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334455"/>
                </a:solidFill>
                <a:latin typeface="Calibri"/>
              </a:rPr>
              <a:t>Competitive moves in ~50 ms · real-time GUI play.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