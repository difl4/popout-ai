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594360" cy="3017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56032"/>
            <a:ext cx="7498079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21295C"/>
                </a:solidFill>
                <a:latin typeface="Cambria"/>
              </a:rPr>
              <a:t>Numba JIT + FlatNumba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58368"/>
            <a:ext cx="7498079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100" b="0" i="1">
                <a:solidFill>
                  <a:srgbClr val="6B7A88"/>
                </a:solidFill>
                <a:latin typeface="Calibri"/>
              </a:rPr>
              <a:t>Como conseguimos ~1400× mais iterações por segundo sem sair do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8229600" cy="13716"/>
          </a:xfrm>
          <a:prstGeom prst="rect">
            <a:avLst/>
          </a:prstGeom>
          <a:solidFill>
            <a:srgbClr val="C4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4023360" cy="21945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402336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307592"/>
            <a:ext cx="3749039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600" b="1" i="0">
                <a:solidFill>
                  <a:srgbClr val="1C7293"/>
                </a:solidFill>
                <a:latin typeface="Cambria"/>
              </a:rPr>
              <a:t>Numba JIT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45920"/>
            <a:ext cx="3749039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Compilação @njit  ·  Python → LLVM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965960"/>
            <a:ext cx="3749039" cy="13258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Decorador @njit(cache=True) nos hot loops (select · expand · simulate · backprop).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Mantém Python como linguagem principal — sem cadeia de build C/Cython.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1C7293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warmup() explícito antes de benchmarks: tira o custo da 1ª compilação.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143000"/>
            <a:ext cx="4023360" cy="2194560"/>
          </a:xfrm>
          <a:prstGeom prst="rect">
            <a:avLst/>
          </a:prstGeom>
          <a:solidFill>
            <a:srgbClr val="E6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3440" y="1143000"/>
            <a:ext cx="4023360" cy="91440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307592"/>
            <a:ext cx="3749039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600" b="1" i="0">
                <a:solidFill>
                  <a:srgbClr val="065A82"/>
                </a:solidFill>
                <a:latin typeface="Cambria"/>
              </a:rPr>
              <a:t>FlatNumba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645920"/>
            <a:ext cx="3749039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0" i="1">
                <a:solidFill>
                  <a:srgbClr val="6B7A88"/>
                </a:solidFill>
                <a:latin typeface="Calibri"/>
              </a:rPr>
              <a:t>Árvore em arrays NumPy pré-alocados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965960"/>
            <a:ext cx="3749039" cy="1325880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F4A341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Sem objectos Python no caminho crítico — nós = índices inteiros em arrays planos.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F4A341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Cache-friendly, vetorizável, sem overhead do garbage collector.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F4A341"/>
                </a:solidFill>
                <a:latin typeface="Calibri"/>
              </a:rPr>
              <a:t>•  </a:t>
            </a:r>
            <a:r>
              <a:rPr sz="1100">
                <a:solidFill>
                  <a:srgbClr val="334455"/>
                </a:solidFill>
                <a:latin typeface="Calibri"/>
              </a:rPr>
              <a:t>Tree reuse via BFS compaction: sub-árvore reindexada para slots 0..k−1 entre turnos.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20440"/>
            <a:ext cx="1508760" cy="1920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StandardUCT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3520440"/>
            <a:ext cx="1778944" cy="192024"/>
          </a:xfrm>
          <a:prstGeom prst="rect">
            <a:avLst/>
          </a:prstGeom>
          <a:solidFill>
            <a:srgbClr val="5AA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2064" y="3520440"/>
            <a:ext cx="1005840" cy="1920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9 k iter/s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767328"/>
            <a:ext cx="1508760" cy="1920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NumbaMCTS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767328"/>
            <a:ext cx="2113962" cy="192024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17082" y="3767328"/>
            <a:ext cx="1005840" cy="1920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50 k iter/s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014216"/>
            <a:ext cx="1508760" cy="1920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FlatNumbaMCTS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57400" y="4014216"/>
            <a:ext cx="2363139" cy="19202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66259" y="4014216"/>
            <a:ext cx="1005840" cy="1920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179 k iter/s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61104"/>
            <a:ext cx="1508760" cy="1920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/>
            <a:r>
              <a:rPr sz="1000" b="1" i="0">
                <a:solidFill>
                  <a:srgbClr val="121E3F"/>
                </a:solidFill>
                <a:latin typeface="Calibri"/>
              </a:rPr>
              <a:t>ReuseFlat (peak)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261104"/>
            <a:ext cx="3200400" cy="192024"/>
          </a:xfrm>
          <a:prstGeom prst="rect">
            <a:avLst/>
          </a:prstGeom>
          <a:solidFill>
            <a:srgbClr val="F4A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0" y="4261104"/>
            <a:ext cx="1005840" cy="1920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000" b="0" i="0">
                <a:solidFill>
                  <a:srgbClr val="121E3F"/>
                </a:solidFill>
                <a:latin typeface="Calibri"/>
              </a:rPr>
              <a:t>13 M iter/s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553712"/>
            <a:ext cx="52578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1">
                <a:solidFill>
                  <a:srgbClr val="6B7A88"/>
                </a:solidFill>
                <a:latin typeface="Calibri"/>
              </a:rPr>
              <a:t>log-scale  ·  unidades: iterações por segundo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0" y="3520440"/>
            <a:ext cx="2011680" cy="109728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3566160"/>
            <a:ext cx="201168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F4A341"/>
                </a:solidFill>
                <a:latin typeface="Calibri"/>
              </a:rPr>
              <a:t>SPEEDUP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840480"/>
            <a:ext cx="201168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≈ 1400×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407408"/>
            <a:ext cx="20116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900" b="0" i="1">
                <a:solidFill>
                  <a:srgbClr val="5AA4B8"/>
                </a:solidFill>
                <a:latin typeface="Calibri"/>
              </a:rPr>
              <a:t>vs Python puro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1000" b="0" i="1">
                <a:solidFill>
                  <a:srgbClr val="6B7A88"/>
                </a:solidFill>
                <a:latin typeface="Calibri"/>
              </a:rPr>
              <a:t>Python legível em cima  ·  código nativo cache-friendly em baixo.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