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92024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Numba JIT + FlatNumba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6692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6B7A88"/>
                </a:solidFill>
                <a:latin typeface="Calibri"/>
              </a:rPr>
              <a:t>From Python to native speed — ~44× more state visits per second, without leaving Python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86968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4023360" cy="205740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402336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52144"/>
            <a:ext cx="3749039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500" b="1" i="0">
                <a:solidFill>
                  <a:srgbClr val="1C7293"/>
                </a:solidFill>
                <a:latin typeface="Cambria"/>
              </a:rPr>
              <a:t>Numba JIT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444752"/>
            <a:ext cx="3749039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1">
                <a:solidFill>
                  <a:srgbClr val="6B7A88"/>
                </a:solidFill>
                <a:latin typeface="Calibri"/>
              </a:rPr>
              <a:t>@njit compiles Python → native via LLVM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719072"/>
            <a:ext cx="3749039" cy="128016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Decorator on the four MCTS hot loops — select · expand · simulate · backprop.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@njit(cache=True) persists compiled bytecode across runs; explicit warmup() pays the JIT cost up front.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All operations on primitive types (int / float / numpy arrays) — no Python object access inside the kernel.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C7293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Chosen over Cython / C extensions: same ~95% of the speed-up, zero extra build chain.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005840"/>
            <a:ext cx="4023360" cy="205740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63440" y="1005840"/>
            <a:ext cx="4023360" cy="9144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1152144"/>
            <a:ext cx="3749039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ambria"/>
              </a:rPr>
              <a:t>FlatNumba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1444752"/>
            <a:ext cx="3749039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1">
                <a:solidFill>
                  <a:srgbClr val="6B7A88"/>
                </a:solidFill>
                <a:latin typeface="Calibri"/>
              </a:rPr>
              <a:t>Whole tree as pre-allocated NumPy arrays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719072"/>
            <a:ext cx="3749039" cy="128016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4A341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Nodes are integer indices into fixed-size arrays (visits · value · parent · children · status).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4A341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Memory layout is contiguous → cache-friendly; no GC pressure, no Python object dispatch.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4A341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Tree reuse: BFS compaction re-indexes the surviving subtree to slots 0..k−1 between turns.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4A341"/>
                </a:solidFill>
                <a:latin typeface="Calibri"/>
              </a:rPr>
              <a:t>•  </a:t>
            </a:r>
            <a:r>
              <a:rPr sz="1000">
                <a:solidFill>
                  <a:srgbClr val="334455"/>
                </a:solidFill>
                <a:latin typeface="Calibri"/>
              </a:rPr>
              <a:t>Visit budget compounds — each turn inherits ≈12% of the previous turn's search effort.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246120"/>
            <a:ext cx="160020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StandardUCT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246120"/>
            <a:ext cx="128016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00" b="0" i="1">
                <a:solidFill>
                  <a:srgbClr val="6B7A88"/>
                </a:solidFill>
                <a:latin typeface="Calibri"/>
              </a:rPr>
              <a:t>Python baseline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8999" y="3246120"/>
            <a:ext cx="1646122" cy="201168"/>
          </a:xfrm>
          <a:prstGeom prst="rect">
            <a:avLst/>
          </a:prstGeom>
          <a:solidFill>
            <a:srgbClr val="5AA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842" y="3246120"/>
            <a:ext cx="8686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 i="0">
                <a:solidFill>
                  <a:srgbClr val="121E3F"/>
                </a:solidFill>
                <a:latin typeface="Calibri"/>
              </a:rPr>
              <a:t>5 k /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502152"/>
            <a:ext cx="160020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NumbaMCTS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502152"/>
            <a:ext cx="128016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00" b="0" i="1">
                <a:solidFill>
                  <a:srgbClr val="6B7A88"/>
                </a:solidFill>
                <a:latin typeface="Calibri"/>
              </a:rPr>
              <a:t>Objects + JIT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28999" y="3502152"/>
            <a:ext cx="1992376" cy="20116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67096" y="3502152"/>
            <a:ext cx="8686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 i="0">
                <a:solidFill>
                  <a:srgbClr val="121E3F"/>
                </a:solidFill>
                <a:latin typeface="Calibri"/>
              </a:rPr>
              <a:t>30 k /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758183"/>
            <a:ext cx="160020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FlatNumbaMCTS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3758183"/>
            <a:ext cx="128016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00" b="0" i="1">
                <a:solidFill>
                  <a:srgbClr val="6B7A88"/>
                </a:solidFill>
                <a:latin typeface="Calibri"/>
              </a:rPr>
              <a:t>Arrays + JIT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8999" y="3758183"/>
            <a:ext cx="2377440" cy="20116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59" y="3758183"/>
            <a:ext cx="8686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 i="0">
                <a:solidFill>
                  <a:srgbClr val="121E3F"/>
                </a:solidFill>
                <a:latin typeface="Calibri"/>
              </a:rPr>
              <a:t>220 k / 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014215"/>
            <a:ext cx="160020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ReuseFlat Solver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4014215"/>
            <a:ext cx="128016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00" b="0" i="1">
                <a:solidFill>
                  <a:srgbClr val="6B7A88"/>
                </a:solidFill>
                <a:latin typeface="Calibri"/>
              </a:rPr>
              <a:t>Arrays + JIT + reuse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28999" y="4014215"/>
            <a:ext cx="2377440" cy="201168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159" y="4014215"/>
            <a:ext cx="8686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 i="0">
                <a:solidFill>
                  <a:srgbClr val="121E3F"/>
                </a:solidFill>
                <a:latin typeface="Calibri"/>
              </a:rPr>
              <a:t>220 k /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306824"/>
            <a:ext cx="62636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1">
                <a:solidFill>
                  <a:srgbClr val="6B7A88"/>
                </a:solidFill>
                <a:latin typeface="Calibri"/>
              </a:rPr>
              <a:t>log scale  ·  state visits per second of wall-clock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78040" y="3246120"/>
            <a:ext cx="1508760" cy="109728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78040" y="3291840"/>
            <a:ext cx="15087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F4A341"/>
                </a:solidFill>
                <a:latin typeface="Calibri"/>
              </a:rPr>
              <a:t>SPEEDUP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3520440"/>
            <a:ext cx="15087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mbria"/>
              </a:rPr>
              <a:t>≈ 44×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4069080"/>
            <a:ext cx="15087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0" i="1">
                <a:solidFill>
                  <a:srgbClr val="5AA4B8"/>
                </a:solidFill>
                <a:latin typeface="Calibri"/>
              </a:rPr>
              <a:t>vs pure Python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526280"/>
            <a:ext cx="5212080" cy="45720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4526280"/>
            <a:ext cx="9144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4562856"/>
            <a:ext cx="493776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21295C"/>
                </a:solidFill>
                <a:latin typeface="Calibri"/>
              </a:rPr>
              <a:t>What tree reuse really buys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4754880"/>
            <a:ext cx="493776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1">
                <a:solidFill>
                  <a:srgbClr val="334455"/>
                </a:solidFill>
                <a:latin typeface="Calibri"/>
              </a:rPr>
              <a:t>Raw iter/s ~ unchanged; reuse compounds search effort across turns (~12% inherited) — same kernel, deeper effective tree.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60720" y="4526280"/>
            <a:ext cx="2926080" cy="45720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760720" y="4526280"/>
            <a:ext cx="91440" cy="4572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0" y="4562856"/>
            <a:ext cx="26974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21295C"/>
                </a:solidFill>
                <a:latin typeface="Calibri"/>
              </a:rPr>
              <a:t>Solver early exit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754880"/>
            <a:ext cx="26974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 i="1">
                <a:solidFill>
                  <a:srgbClr val="334455"/>
                </a:solidFill>
                <a:latin typeface="Calibri"/>
              </a:rPr>
              <a:t>Proven positions return in &lt; 1 ms via AND/OR propagation.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