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594360" cy="30175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594360" cy="3017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92024"/>
            <a:ext cx="7498079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200" b="1" i="0">
                <a:solidFill>
                  <a:srgbClr val="21295C"/>
                </a:solidFill>
                <a:latin typeface="Cambria"/>
              </a:rPr>
              <a:t>ID3 on PopOut — Honest Generalisation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66928"/>
            <a:ext cx="749807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1">
                <a:solidFill>
                  <a:srgbClr val="6B7A88"/>
                </a:solidFill>
                <a:latin typeface="Calibri"/>
              </a:rPr>
              <a:t>3-split methodology exposed a data-leakage bug; true generalisation is 56-58 %, not the 87 % a naïve split suggests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86968"/>
            <a:ext cx="8229600" cy="13716"/>
          </a:xfrm>
          <a:prstGeom prst="rect">
            <a:avLst/>
          </a:prstGeom>
          <a:solidFill>
            <a:srgbClr val="C4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4023360" cy="2057400"/>
          </a:xfrm>
          <a:prstGeom prst="rect">
            <a:avLst/>
          </a:prstGeom>
          <a:solidFill>
            <a:srgbClr val="E6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4023360" cy="914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152144"/>
            <a:ext cx="3749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500" b="1" i="0">
                <a:solidFill>
                  <a:srgbClr val="1C7293"/>
                </a:solidFill>
                <a:latin typeface="Cambria"/>
              </a:rPr>
              <a:t>Dataset (v4_75k_100k)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444752"/>
            <a:ext cx="3749039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1">
                <a:solidFill>
                  <a:srgbClr val="6B7A88"/>
                </a:solidFill>
                <a:latin typeface="Calibri"/>
              </a:rPr>
              <a:t>75 000 self-play games · oracle = ReuseFlat Solver @ 100k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19072"/>
            <a:ext cx="3749039" cy="1280160"/>
          </a:xfrm>
          <a:prstGeom prst="rect">
            <a:avLst/>
          </a:prstGeom>
          <a:noFill/>
        </p:spPr>
        <p:txBody>
          <a:bodyPr wrap="square" lIns="18288" t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C7293"/>
                </a:solidFill>
                <a:latin typeface="Calibri"/>
              </a:rPr>
              <a:t>•  </a:t>
            </a:r>
            <a:r>
              <a:rPr sz="1000">
                <a:solidFill>
                  <a:srgbClr val="334455"/>
                </a:solidFill>
                <a:latin typeface="Calibri"/>
              </a:rPr>
              <a:t>2.76 M (state, best_move) pairs from full self-play games labelled by the oracle.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1C7293"/>
                </a:solidFill>
                <a:latin typeface="Calibri"/>
              </a:rPr>
              <a:t>•  </a:t>
            </a:r>
            <a:r>
              <a:rPr sz="1000">
                <a:solidFill>
                  <a:srgbClr val="334455"/>
                </a:solidFill>
                <a:latin typeface="Calibri"/>
              </a:rPr>
              <a:t>Forced 2-move openings cycling 7 × 7 = 49 column combos for coverage.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1C7293"/>
                </a:solidFill>
                <a:latin typeface="Calibri"/>
              </a:rPr>
              <a:t>•  </a:t>
            </a:r>
            <a:r>
              <a:rPr sz="1000">
                <a:solidFill>
                  <a:srgbClr val="334455"/>
                </a:solidFill>
                <a:latin typeface="Calibri"/>
              </a:rPr>
              <a:t>Three blunder tiers (5 / 25 / 50 %) for diversity in opponent play.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1C7293"/>
                </a:solidFill>
                <a:latin typeface="Calibri"/>
              </a:rPr>
              <a:t>•  </a:t>
            </a:r>
            <a:r>
              <a:rPr sz="1000">
                <a:solidFill>
                  <a:srgbClr val="334455"/>
                </a:solidFill>
                <a:latin typeface="Calibri"/>
              </a:rPr>
              <a:t>Horizontal mirroring doubles useful samples; 39 % of positions carry the is_proven flag.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005840"/>
            <a:ext cx="4023360" cy="2057400"/>
          </a:xfrm>
          <a:prstGeom prst="rect">
            <a:avLst/>
          </a:prstGeom>
          <a:solidFill>
            <a:srgbClr val="E6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1005840"/>
            <a:ext cx="4023360" cy="91440"/>
          </a:xfrm>
          <a:prstGeom prst="rect">
            <a:avLst/>
          </a:prstGeom>
          <a:solidFill>
            <a:srgbClr val="F4A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1152144"/>
            <a:ext cx="3749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mbria"/>
              </a:rPr>
              <a:t>3-split methodology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444752"/>
            <a:ext cx="3749039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1">
                <a:solidFill>
                  <a:srgbClr val="6B7A88"/>
                </a:solidFill>
                <a:latin typeface="Calibri"/>
              </a:rPr>
              <a:t>Exposed our own data leakage — reported honestly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719072"/>
            <a:ext cx="3749039" cy="1280160"/>
          </a:xfrm>
          <a:prstGeom prst="rect">
            <a:avLst/>
          </a:prstGeom>
          <a:noFill/>
        </p:spPr>
        <p:txBody>
          <a:bodyPr wrap="square" lIns="18288" t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F4A341"/>
                </a:solidFill>
                <a:latin typeface="Calibri"/>
              </a:rPr>
              <a:t>•  </a:t>
            </a:r>
            <a:r>
              <a:rPr sz="1000">
                <a:solidFill>
                  <a:srgbClr val="334455"/>
                </a:solidFill>
                <a:latin typeface="Calibri"/>
              </a:rPr>
              <a:t>BUGGY: reset_index bug → 98.5 % literal row overlap (memorisation, not generalisation).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F4A341"/>
                </a:solidFill>
                <a:latin typeface="Calibri"/>
              </a:rPr>
              <a:t>•  </a:t>
            </a:r>
            <a:r>
              <a:rPr sz="1000">
                <a:solidFill>
                  <a:srgbClr val="334455"/>
                </a:solidFill>
                <a:latin typeface="Calibri"/>
              </a:rPr>
              <a:t>RANDOM: correct row-level random 80/20 → 92 % overlap from intrinsic state duplication.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F4A341"/>
                </a:solidFill>
                <a:latin typeface="Calibri"/>
              </a:rPr>
              <a:t>•  </a:t>
            </a:r>
            <a:r>
              <a:rPr sz="1000">
                <a:solidFill>
                  <a:srgbClr val="334455"/>
                </a:solidFill>
                <a:latin typeface="Calibri"/>
              </a:rPr>
              <a:t>GROUPED: states partitioned 80/20 before mapping back to rows → 0 % overlap, true generalisation.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F4A341"/>
                </a:solidFill>
                <a:latin typeface="Calibri"/>
              </a:rPr>
              <a:t>•  </a:t>
            </a:r>
            <a:r>
              <a:rPr sz="1000">
                <a:solidFill>
                  <a:srgbClr val="334455"/>
                </a:solidFill>
                <a:latin typeface="Calibri"/>
              </a:rPr>
              <a:t>Reported all three side-by-side in the notebook.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58521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mbria"/>
              </a:rPr>
              <a:t>Test accuracy across the three splits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364992"/>
            <a:ext cx="58521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 i="1">
                <a:solidFill>
                  <a:srgbClr val="6B7A88"/>
                </a:solidFill>
                <a:latin typeface="Calibri"/>
              </a:rPr>
              <a:t>Features model | Raw model — same trend: GROUPED is the honest measure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584448"/>
            <a:ext cx="118872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/>
            <a:r>
              <a:rPr sz="1100" b="1" i="0">
                <a:solidFill>
                  <a:srgbClr val="E5714E"/>
                </a:solidFill>
                <a:latin typeface="Calibri"/>
              </a:rPr>
              <a:t>BUGGY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1640" y="3584448"/>
            <a:ext cx="2698577" cy="118872"/>
          </a:xfrm>
          <a:prstGeom prst="rect">
            <a:avLst/>
          </a:prstGeom>
          <a:solidFill>
            <a:srgbClr val="E57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5937" y="3584448"/>
            <a:ext cx="777240" cy="11887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121E3F"/>
                </a:solidFill>
                <a:latin typeface="Calibri"/>
              </a:rPr>
              <a:t>feat  0.868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91640" y="3739896"/>
            <a:ext cx="2704795" cy="118872"/>
          </a:xfrm>
          <a:prstGeom prst="rect">
            <a:avLst/>
          </a:prstGeom>
          <a:solidFill>
            <a:srgbClr val="E57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691640" y="3739896"/>
            <a:ext cx="2704795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42155" y="3739896"/>
            <a:ext cx="777240" cy="11887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121E3F"/>
                </a:solidFill>
                <a:latin typeface="Calibri"/>
              </a:rPr>
              <a:t>raw   0.870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904487"/>
            <a:ext cx="118872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/>
            <a:r>
              <a:rPr sz="1100" b="1" i="0">
                <a:solidFill>
                  <a:srgbClr val="F4A341"/>
                </a:solidFill>
                <a:latin typeface="Calibri"/>
              </a:rPr>
              <a:t>RANDOM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91640" y="3904487"/>
            <a:ext cx="2546238" cy="118872"/>
          </a:xfrm>
          <a:prstGeom prst="rect">
            <a:avLst/>
          </a:prstGeom>
          <a:solidFill>
            <a:srgbClr val="F4A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83598" y="3904487"/>
            <a:ext cx="777240" cy="11887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121E3F"/>
                </a:solidFill>
                <a:latin typeface="Calibri"/>
              </a:rPr>
              <a:t>feat  0.819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91640" y="4059935"/>
            <a:ext cx="2558674" cy="118872"/>
          </a:xfrm>
          <a:prstGeom prst="rect">
            <a:avLst/>
          </a:prstGeom>
          <a:solidFill>
            <a:srgbClr val="F4A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691640" y="4059935"/>
            <a:ext cx="2558674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6034" y="4059935"/>
            <a:ext cx="777240" cy="11887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121E3F"/>
                </a:solidFill>
                <a:latin typeface="Calibri"/>
              </a:rPr>
              <a:t>raw   0.823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224528"/>
            <a:ext cx="118872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/>
            <a:r>
              <a:rPr sz="1100" b="1" i="0">
                <a:solidFill>
                  <a:srgbClr val="2E8B57"/>
                </a:solidFill>
                <a:latin typeface="Calibri"/>
              </a:rPr>
              <a:t>GROUPED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91640" y="4224528"/>
            <a:ext cx="1762780" cy="11887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00140" y="4224528"/>
            <a:ext cx="777240" cy="11887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121E3F"/>
                </a:solidFill>
                <a:latin typeface="Calibri"/>
              </a:rPr>
              <a:t>feat  0.567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91640" y="4379976"/>
            <a:ext cx="1815632" cy="11887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1640" y="4379976"/>
            <a:ext cx="1815632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52992" y="4379976"/>
            <a:ext cx="777240" cy="11887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121E3F"/>
                </a:solidFill>
                <a:latin typeface="Calibri"/>
              </a:rPr>
              <a:t>raw   0.584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3154680"/>
            <a:ext cx="2194560" cy="13716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3227832"/>
            <a:ext cx="219456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1" i="0">
                <a:solidFill>
                  <a:srgbClr val="F4A341"/>
                </a:solidFill>
                <a:latin typeface="Calibri"/>
              </a:rPr>
              <a:t>TRUE GENERALISATION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3493008"/>
            <a:ext cx="2194560" cy="5029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mbria"/>
              </a:rPr>
              <a:t>~ 58 %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4041648"/>
            <a:ext cx="219456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000" b="0" i="1">
                <a:solidFill>
                  <a:srgbClr val="5AA4B8"/>
                </a:solidFill>
                <a:latin typeface="Calibri"/>
              </a:rPr>
              <a:t>vs 87 % under leakage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4279392"/>
            <a:ext cx="219456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00" b="0" i="1">
                <a:solidFill>
                  <a:srgbClr val="5AA4B8"/>
                </a:solidFill>
                <a:latin typeface="Calibri"/>
              </a:rPr>
              <a:t>random baseline:  7 %  (1/14)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617720"/>
            <a:ext cx="5212080" cy="411480"/>
          </a:xfrm>
          <a:prstGeom prst="rect">
            <a:avLst/>
          </a:prstGeom>
          <a:solidFill>
            <a:srgbClr val="E6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4617720"/>
            <a:ext cx="9144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654296"/>
            <a:ext cx="493776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 i="0">
                <a:solidFill>
                  <a:srgbClr val="21295C"/>
                </a:solidFill>
                <a:latin typeface="Calibri"/>
              </a:rPr>
              <a:t>Tactical accuracy on GROUPED test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4828032"/>
            <a:ext cx="493776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 i="1">
                <a:solidFill>
                  <a:srgbClr val="334455"/>
                </a:solidFill>
                <a:latin typeface="Calibri"/>
              </a:rPr>
              <a:t>opp_wins_next=1: 37 % (feat)  ·  39 % (raw)   |   pop moves: 29 % (feat)  ·  34 % (raw)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760720" y="4617720"/>
            <a:ext cx="2926080" cy="411480"/>
          </a:xfrm>
          <a:prstGeom prst="rect">
            <a:avLst/>
          </a:prstGeom>
          <a:solidFill>
            <a:srgbClr val="E6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760720" y="4617720"/>
            <a:ext cx="91440" cy="411480"/>
          </a:xfrm>
          <a:prstGeom prst="rect">
            <a:avLst/>
          </a:prstGeom>
          <a:solidFill>
            <a:srgbClr val="E57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0" y="4654296"/>
            <a:ext cx="26974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 i="0">
                <a:solidFill>
                  <a:srgbClr val="21295C"/>
                </a:solidFill>
                <a:latin typeface="Calibri"/>
              </a:rPr>
              <a:t>Hybrid disclosure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0" y="4828032"/>
            <a:ext cx="26974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 i="1">
                <a:solidFill>
                  <a:srgbClr val="334455"/>
                </a:solidFill>
                <a:latin typeface="Calibri"/>
              </a:rPr>
              <a:t>Pure ID3 vs Solver 100k: 29-36 %  ·  hybrid: 53-54 %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