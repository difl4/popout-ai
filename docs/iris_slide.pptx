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ID3 on Iris — Warm-up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6692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Validating the from-scratch ID3 on the canonical benchmark before the PopOut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86968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402336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ambria"/>
              </a:rP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Quantile discretisation + repeated K-fold CV — leakage-safe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Continuous features → 3 quantile bins per attribute (very_low / low / medium).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5 × 10-fold stratified CV → 50 independent train/test evaluations.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Bin edges fit on training fold only — test partition never influences the splits.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ID3 from src/decision_tree/id3/learner.py — same algorithm used downstream for PopOut.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005840"/>
            <a:ext cx="402336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mbria"/>
              </a:rPr>
              <a:t>Per-class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Support = 250 samples per class  ·  aggregated over 50 folds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55648"/>
            <a:ext cx="15087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1295C"/>
                </a:solidFill>
                <a:latin typeface="Calibri"/>
              </a:rPr>
              <a:t>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79" y="1755648"/>
            <a:ext cx="71323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Prec.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8312" y="1755648"/>
            <a:ext cx="71323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1544" y="1755648"/>
            <a:ext cx="71323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F1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956816"/>
            <a:ext cx="3648456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00600" y="2029967"/>
            <a:ext cx="73152" cy="2194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2029967"/>
            <a:ext cx="1463039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Iris-setosa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029967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2029967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1544" y="2029967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2E8B57"/>
                </a:solidFill>
                <a:latin typeface="Calibri"/>
              </a:rPr>
              <a:t>0.986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286000"/>
            <a:ext cx="73152" cy="21945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2286000"/>
            <a:ext cx="1463039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Iris-versicolor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79" y="2286000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286000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1544" y="2286000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0.925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2542032"/>
            <a:ext cx="73152" cy="219456"/>
          </a:xfrm>
          <a:prstGeom prst="rect">
            <a:avLst/>
          </a:prstGeom>
          <a:solidFill>
            <a:srgbClr val="C85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2542032"/>
            <a:ext cx="1463039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Iris-virginica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542032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8312" y="2542032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0.964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81544" y="2542032"/>
            <a:ext cx="713232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C8597A"/>
                </a:solidFill>
                <a:latin typeface="Calibri"/>
              </a:rPr>
              <a:t>0.941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154680"/>
            <a:ext cx="58521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mbria"/>
              </a:rPr>
              <a:t>F1-score per class — 50-fold aggregated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364992"/>
            <a:ext cx="585216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Bars filled to F1 score; thin grey background bar shows 0–1 range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79" y="3611880"/>
            <a:ext cx="2926080" cy="237744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11679" y="3611880"/>
            <a:ext cx="2885114" cy="23774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611880"/>
            <a:ext cx="15087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Iris-setosa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3611880"/>
            <a:ext cx="5943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121E3F"/>
                </a:solidFill>
                <a:latin typeface="Calibri"/>
              </a:rPr>
              <a:t>0.986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79" y="3941064"/>
            <a:ext cx="2926080" cy="237744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79" y="3941064"/>
            <a:ext cx="2706624" cy="2377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941064"/>
            <a:ext cx="15087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Iris-versicolor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3941064"/>
            <a:ext cx="5943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121E3F"/>
                </a:solidFill>
                <a:latin typeface="Calibri"/>
              </a:rPr>
              <a:t>0.925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79" y="4270248"/>
            <a:ext cx="2926080" cy="237744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11679" y="4270248"/>
            <a:ext cx="2753441" cy="237744"/>
          </a:xfrm>
          <a:prstGeom prst="rect">
            <a:avLst/>
          </a:prstGeom>
          <a:solidFill>
            <a:srgbClr val="C85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270248"/>
            <a:ext cx="15087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Iris-virginica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80" y="4270248"/>
            <a:ext cx="59436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121E3F"/>
                </a:solidFill>
                <a:latin typeface="Calibri"/>
              </a:rPr>
              <a:t>0.941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154680"/>
            <a:ext cx="2194560" cy="1371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3227832"/>
            <a:ext cx="2194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F4A341"/>
                </a:solidFill>
                <a:latin typeface="Calibri"/>
              </a:rPr>
              <a:t>OVERALL ACCURACY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3493008"/>
            <a:ext cx="219456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mbria"/>
              </a:rPr>
              <a:t>95.07 %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023360"/>
            <a:ext cx="2194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5AA4B8"/>
                </a:solidFill>
                <a:latin typeface="Calibri"/>
              </a:rPr>
              <a:t>± 5.63 %  (50 folds)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2240" y="4261104"/>
            <a:ext cx="2194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0" i="1">
                <a:solidFill>
                  <a:srgbClr val="5AA4B8"/>
                </a:solidFill>
                <a:latin typeface="Calibri"/>
              </a:rPr>
              <a:t>min 80 %   ·   max 100 %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617720"/>
            <a:ext cx="5212080" cy="4114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7200" y="4617720"/>
            <a:ext cx="9144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4654296"/>
            <a:ext cx="49377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1295C"/>
                </a:solidFill>
                <a:latin typeface="Calibri"/>
              </a:rPr>
              <a:t>Feature importance (normalised split count)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4828032"/>
            <a:ext cx="49377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334455"/>
                </a:solidFill>
                <a:latin typeface="Calibri"/>
              </a:rPr>
              <a:t>sepal-width 33 %  ·  sepal-length 33 %  ·  petal-width 22 %  ·  petal-length 11 %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60720" y="4617720"/>
            <a:ext cx="2926080" cy="4114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760720" y="4617720"/>
            <a:ext cx="9144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4654296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1295C"/>
                </a:solidFill>
                <a:latin typeface="Calibri"/>
              </a:rPr>
              <a:t>Reproducibility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4828032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334455"/>
                </a:solidFill>
                <a:latin typeface="Calibri"/>
              </a:rPr>
              <a:t>Same ID3Classifier reused for PopOut downstream.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