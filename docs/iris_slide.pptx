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594360" cy="3017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94360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92024"/>
            <a:ext cx="74980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200" b="1" i="0">
                <a:solidFill>
                  <a:srgbClr val="21295C"/>
                </a:solidFill>
                <a:latin typeface="Cambria"/>
              </a:rPr>
              <a:t>ID3 on Iris — Warm-up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66928"/>
            <a:ext cx="74980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 i="1">
                <a:solidFill>
                  <a:srgbClr val="6B7A88"/>
                </a:solidFill>
                <a:latin typeface="Calibri"/>
              </a:rPr>
              <a:t>Validating the from-scratch ID3 on the canonical benchmark before the PopOut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86968"/>
            <a:ext cx="8229600" cy="13716"/>
          </a:xfrm>
          <a:prstGeom prst="rect">
            <a:avLst/>
          </a:prstGeom>
          <a:solidFill>
            <a:srgbClr val="C4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4023360" cy="205740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4023360" cy="914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52144"/>
            <a:ext cx="3749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ambria"/>
              </a:rPr>
              <a:t>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44752"/>
            <a:ext cx="374903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1">
                <a:solidFill>
                  <a:srgbClr val="6B7A88"/>
                </a:solidFill>
                <a:latin typeface="Calibri"/>
              </a:rPr>
              <a:t>Quantile discretisation + repeated K-fold CV — leakage-safe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19072"/>
            <a:ext cx="3749039" cy="1280160"/>
          </a:xfrm>
          <a:prstGeom prst="rect">
            <a:avLst/>
          </a:prstGeom>
          <a:noFill/>
        </p:spPr>
        <p:txBody>
          <a:bodyPr wrap="square" lIns="18288" t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C7293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Continuous features → 3 quantile bins per attribute (very_low / low / medium).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C7293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5 × 10-fold stratified CV → 50 independent train/test evaluations.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C7293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Bin edges fit on training fold only — test partition never influences the splits.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C7293"/>
                </a:solidFill>
                <a:latin typeface="Calibri"/>
              </a:rPr>
              <a:t>•  </a:t>
            </a:r>
            <a:r>
              <a:rPr sz="1000">
                <a:solidFill>
                  <a:srgbClr val="334455"/>
                </a:solidFill>
                <a:latin typeface="Calibri"/>
              </a:rPr>
              <a:t>ID3 from src/decision_tree/id3/learner.py — same algorithm used downstream for PopOut.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005840"/>
            <a:ext cx="4023360" cy="205740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005840"/>
            <a:ext cx="4023360" cy="91440"/>
          </a:xfrm>
          <a:prstGeom prst="rect">
            <a:avLst/>
          </a:prstGeom>
          <a:solidFill>
            <a:srgbClr val="F4A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152144"/>
            <a:ext cx="3749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Per-class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444752"/>
            <a:ext cx="374903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1">
                <a:solidFill>
                  <a:srgbClr val="6B7A88"/>
                </a:solidFill>
                <a:latin typeface="Calibri"/>
              </a:rPr>
              <a:t>Support = 250 samples per class  ·  aggregated over 50 folds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755648"/>
            <a:ext cx="15087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21295C"/>
                </a:solidFill>
                <a:latin typeface="Calibri"/>
              </a:rPr>
              <a:t>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1755648"/>
            <a:ext cx="71323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1" i="0">
                <a:solidFill>
                  <a:srgbClr val="21295C"/>
                </a:solidFill>
                <a:latin typeface="Calibri"/>
              </a:rPr>
              <a:t>Prec.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1755648"/>
            <a:ext cx="71323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1" i="0">
                <a:solidFill>
                  <a:srgbClr val="21295C"/>
                </a:solidFill>
                <a:latin typeface="Calibri"/>
              </a:rP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81544" y="1755648"/>
            <a:ext cx="71323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1" i="0">
                <a:solidFill>
                  <a:srgbClr val="21295C"/>
                </a:solidFill>
                <a:latin typeface="Calibri"/>
              </a:rPr>
              <a:t>F1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956816"/>
            <a:ext cx="3648456" cy="13716"/>
          </a:xfrm>
          <a:prstGeom prst="rect">
            <a:avLst/>
          </a:prstGeom>
          <a:solidFill>
            <a:srgbClr val="C4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00600" y="2029967"/>
            <a:ext cx="73152" cy="21945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2029967"/>
            <a:ext cx="1463039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0" i="0">
                <a:solidFill>
                  <a:srgbClr val="121E3F"/>
                </a:solidFill>
                <a:latin typeface="Calibri"/>
              </a:rPr>
              <a:t>Iris-setosa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79" y="2029967"/>
            <a:ext cx="713232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 i="0">
                <a:solidFill>
                  <a:srgbClr val="334455"/>
                </a:solidFill>
                <a:latin typeface="Calibri"/>
              </a:rPr>
              <a:t>0.996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2029967"/>
            <a:ext cx="713232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 i="0">
                <a:solidFill>
                  <a:srgbClr val="334455"/>
                </a:solidFill>
                <a:latin typeface="Calibri"/>
              </a:rPr>
              <a:t>0.976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81544" y="2029967"/>
            <a:ext cx="713232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Calibri"/>
              </a:rPr>
              <a:t>0.986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2286000"/>
            <a:ext cx="73152" cy="21945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2286000"/>
            <a:ext cx="1463039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0" i="0">
                <a:solidFill>
                  <a:srgbClr val="121E3F"/>
                </a:solidFill>
                <a:latin typeface="Calibri"/>
              </a:rPr>
              <a:t>Iris-versicolor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2286000"/>
            <a:ext cx="713232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 i="0">
                <a:solidFill>
                  <a:srgbClr val="334455"/>
                </a:solidFill>
                <a:latin typeface="Calibri"/>
              </a:rPr>
              <a:t>0.923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2286000"/>
            <a:ext cx="713232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 i="0">
                <a:solidFill>
                  <a:srgbClr val="334455"/>
                </a:solidFill>
                <a:latin typeface="Calibri"/>
              </a:rPr>
              <a:t>0.916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1544" y="2286000"/>
            <a:ext cx="713232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0.920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2542032"/>
            <a:ext cx="73152" cy="219456"/>
          </a:xfrm>
          <a:prstGeom prst="rect">
            <a:avLst/>
          </a:prstGeom>
          <a:solidFill>
            <a:srgbClr val="C85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2542032"/>
            <a:ext cx="1463039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0" i="0">
                <a:solidFill>
                  <a:srgbClr val="121E3F"/>
                </a:solidFill>
                <a:latin typeface="Calibri"/>
              </a:rPr>
              <a:t>Iris-virginica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79" y="2542032"/>
            <a:ext cx="713232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 i="0">
                <a:solidFill>
                  <a:srgbClr val="334455"/>
                </a:solidFill>
                <a:latin typeface="Calibri"/>
              </a:rPr>
              <a:t>0.922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8312" y="2542032"/>
            <a:ext cx="713232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0" i="0">
                <a:solidFill>
                  <a:srgbClr val="334455"/>
                </a:solidFill>
                <a:latin typeface="Calibri"/>
              </a:rPr>
              <a:t>0.948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81544" y="2542032"/>
            <a:ext cx="713232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C8597A"/>
                </a:solidFill>
                <a:latin typeface="Calibri"/>
              </a:rPr>
              <a:t>0.935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154680"/>
            <a:ext cx="58521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mbria"/>
              </a:rPr>
              <a:t>F1-score per class — 50-fold aggregated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364992"/>
            <a:ext cx="58521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6B7A88"/>
                </a:solidFill>
                <a:latin typeface="Calibri"/>
              </a:rPr>
              <a:t>Bars filled to F1 score; thin grey background bar shows 0–1 range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79" y="3611880"/>
            <a:ext cx="2926080" cy="237744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011679" y="3611880"/>
            <a:ext cx="2885114" cy="23774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611880"/>
            <a:ext cx="150876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000" b="1" i="0">
                <a:solidFill>
                  <a:srgbClr val="121E3F"/>
                </a:solidFill>
                <a:latin typeface="Calibri"/>
              </a:rPr>
              <a:t>Iris-setosa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3611880"/>
            <a:ext cx="59436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121E3F"/>
                </a:solidFill>
                <a:latin typeface="Calibri"/>
              </a:rPr>
              <a:t>0.986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11679" y="3941064"/>
            <a:ext cx="2926080" cy="237744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11679" y="3941064"/>
            <a:ext cx="2691993" cy="23774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3941064"/>
            <a:ext cx="150876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000" b="1" i="0">
                <a:solidFill>
                  <a:srgbClr val="121E3F"/>
                </a:solidFill>
                <a:latin typeface="Calibri"/>
              </a:rPr>
              <a:t>Iris-versicolor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3480" y="3941064"/>
            <a:ext cx="59436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121E3F"/>
                </a:solidFill>
                <a:latin typeface="Calibri"/>
              </a:rPr>
              <a:t>0.920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79" y="4270248"/>
            <a:ext cx="2926080" cy="237744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011679" y="4270248"/>
            <a:ext cx="2735884" cy="237744"/>
          </a:xfrm>
          <a:prstGeom prst="rect">
            <a:avLst/>
          </a:prstGeom>
          <a:solidFill>
            <a:srgbClr val="C85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270248"/>
            <a:ext cx="150876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000" b="1" i="0">
                <a:solidFill>
                  <a:srgbClr val="121E3F"/>
                </a:solidFill>
                <a:latin typeface="Calibri"/>
              </a:rPr>
              <a:t>Iris-virginica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83480" y="4270248"/>
            <a:ext cx="59436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121E3F"/>
                </a:solidFill>
                <a:latin typeface="Calibri"/>
              </a:rPr>
              <a:t>0.935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154680"/>
            <a:ext cx="2194560" cy="1371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3227832"/>
            <a:ext cx="219456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1" i="0">
                <a:solidFill>
                  <a:srgbClr val="F4A341"/>
                </a:solidFill>
                <a:latin typeface="Calibri"/>
              </a:rPr>
              <a:t>OVERALL ACCURACY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3493008"/>
            <a:ext cx="2194560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94.67 %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023360"/>
            <a:ext cx="219456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0" i="1">
                <a:solidFill>
                  <a:srgbClr val="5AA4B8"/>
                </a:solidFill>
                <a:latin typeface="Calibri"/>
              </a:rPr>
              <a:t>± 6.39 %  (50 folds)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4261104"/>
            <a:ext cx="219456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0" i="1">
                <a:solidFill>
                  <a:srgbClr val="5AA4B8"/>
                </a:solidFill>
                <a:latin typeface="Calibri"/>
              </a:rPr>
              <a:t>min 73 %   ·   max 100 %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617720"/>
            <a:ext cx="5212080" cy="41148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4617720"/>
            <a:ext cx="9144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4654296"/>
            <a:ext cx="49377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21295C"/>
                </a:solidFill>
                <a:latin typeface="Calibri"/>
              </a:rPr>
              <a:t>Feature importance (normalised split count)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4828032"/>
            <a:ext cx="49377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334455"/>
                </a:solidFill>
                <a:latin typeface="Calibri"/>
              </a:rPr>
              <a:t>sepal-length 37 %  ·  petal-length 25 %  ·  sepal-width 25 %  ·  petal-width 12 %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60720" y="4617720"/>
            <a:ext cx="2926080" cy="41148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60720" y="4617720"/>
            <a:ext cx="91440" cy="4114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0" y="4654296"/>
            <a:ext cx="26974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21295C"/>
                </a:solidFill>
                <a:latin typeface="Calibri"/>
              </a:rPr>
              <a:t>Reproducibility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0" y="4828032"/>
            <a:ext cx="26974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334455"/>
                </a:solidFill>
                <a:latin typeface="Calibri"/>
              </a:rPr>
              <a:t>Same ID3Classifier reused for PopOut downstream.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