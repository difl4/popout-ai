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92024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MCTS-Solver + Tree Reuse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6692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Two orthogonal optimisations above the Numba kernel — mathematical proof, and search effort that compounds across turns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86968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4023360" cy="20574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4023360" cy="914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52144"/>
            <a:ext cx="3749039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mbria"/>
              </a:rPr>
              <a:t>MCTS-Solver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444752"/>
            <a:ext cx="3749039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6B7A88"/>
                </a:solidFill>
                <a:latin typeface="Calibri"/>
              </a:rPr>
              <a:t>AND/OR proof propagation  ·  Winands et al. 2008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19072"/>
            <a:ext cx="3749039" cy="128016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65A82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Each node labelled WIN / LOSS / DRAW / UNKNOWN — labels propagate up the tree.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065A82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WIN if ∃ child LOSS  ·  LOSS if all children WIN + fully expanded  ·  DRAW by consensus.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065A82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Minimax distance breaks ties: win-fast, lose-slow.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065A82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Search terminates instantly once the root is proven — wall-clock drops to sub-millisecond.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005840"/>
            <a:ext cx="4023360" cy="20574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1005840"/>
            <a:ext cx="4023360" cy="914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152144"/>
            <a:ext cx="3749039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mbria"/>
              </a:rPr>
              <a:t>Tree Reuse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444752"/>
            <a:ext cx="3749039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6B7A88"/>
                </a:solidFill>
                <a:latin typeface="Calibri"/>
              </a:rPr>
              <a:t>Subtree carried over between consecutive turns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719072"/>
            <a:ext cx="3749039" cy="128016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4A341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After each move, the matching child becomes the new root — the rest of the tree is discarded.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4A341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BFS compaction re-indexes the surviving subtree into slots 0..k−1 (required by the flat-array layout).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4A341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Solver labels survive compaction: proven nodes are not re-proved next turn.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4A341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Each turn inherits the search effort of the previous one — depth-of-search compounds.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154680"/>
            <a:ext cx="58521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mbria"/>
              </a:rPr>
              <a:t>Wall-clock per turn — ReuseFlat Solver, 5 000 iter requested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364992"/>
            <a:ext cx="585216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Mean of 5 trials; gains compound from reuse + proof early-exit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584448"/>
            <a:ext cx="77724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Turn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584448"/>
            <a:ext cx="150876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clean search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34639" y="3584448"/>
            <a:ext cx="2011680" cy="182880"/>
          </a:xfrm>
          <a:prstGeom prst="rect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92040" y="3584448"/>
            <a:ext cx="77724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24.0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803904"/>
            <a:ext cx="77724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Turn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803904"/>
            <a:ext cx="150876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subtree inherited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34639" y="3803904"/>
            <a:ext cx="1508760" cy="1828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803904"/>
            <a:ext cx="77724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18.0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23360"/>
            <a:ext cx="77724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Turn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023360"/>
            <a:ext cx="150876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typically proven (variance high)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34639" y="4023360"/>
            <a:ext cx="528066" cy="1828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08425" y="4023360"/>
            <a:ext cx="77724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6.3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242816"/>
            <a:ext cx="77724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Turn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242816"/>
            <a:ext cx="150876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root proven · AND/OR exit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34639" y="4242816"/>
            <a:ext cx="91440" cy="1828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71799" y="4242816"/>
            <a:ext cx="77724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 i="0">
                <a:solidFill>
                  <a:srgbClr val="121E3F"/>
                </a:solidFill>
                <a:latin typeface="Calibri"/>
              </a:rPr>
              <a:t>&lt; 1 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0" y="3154680"/>
            <a:ext cx="2194560" cy="1371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227832"/>
            <a:ext cx="21945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F4A341"/>
                </a:solidFill>
                <a:latin typeface="Calibri"/>
              </a:rPr>
              <a:t>EFFECT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520440"/>
            <a:ext cx="2194560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>24 ms → &lt; 1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069080"/>
            <a:ext cx="219456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5AA4B8"/>
                </a:solidFill>
                <a:latin typeface="Calibri"/>
              </a:rPr>
              <a:t>by turn 4, with the same
5 000 iter/turn requested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617720"/>
            <a:ext cx="5212080" cy="4114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617720"/>
            <a:ext cx="91440" cy="4114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654296"/>
            <a:ext cx="49377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1295C"/>
                </a:solidFill>
                <a:latin typeface="Calibri"/>
              </a:rPr>
              <a:t>Honest 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828032"/>
            <a:ext cx="49377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1">
                <a:solidFill>
                  <a:srgbClr val="334455"/>
                </a:solidFill>
                <a:latin typeface="Calibri"/>
              </a:rPr>
              <a:t>Solver bookkeeping costs 1-25 % iter/s vs plain UCT; reuse adds an O(k) BFS compaction once per move.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4617720"/>
            <a:ext cx="2926080" cy="4114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60720" y="4617720"/>
            <a:ext cx="91440" cy="4114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4654296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1295C"/>
                </a:solidFill>
                <a:latin typeface="Calibri"/>
              </a:rPr>
              <a:t>Strategic value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4828032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1">
                <a:solidFill>
                  <a:srgbClr val="334455"/>
                </a:solidFill>
                <a:latin typeface="Calibri"/>
              </a:rPr>
              <a:t>Provably correct endgame play  +  deeper effective search.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