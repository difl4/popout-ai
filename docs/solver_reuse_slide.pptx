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594360" cy="30175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9436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92024"/>
            <a:ext cx="74980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200" b="1" i="0">
                <a:solidFill>
                  <a:srgbClr val="21295C"/>
                </a:solidFill>
                <a:latin typeface="Cambria"/>
              </a:rPr>
              <a:t>MCTS-Solver + Tree Reuse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66928"/>
            <a:ext cx="7498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1">
                <a:solidFill>
                  <a:srgbClr val="6B7A88"/>
                </a:solidFill>
                <a:latin typeface="Calibri"/>
              </a:rPr>
              <a:t>Two orthogonal optimisations above the Numba kernel — mathematical proof, and search effort that compounds across turns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86968"/>
            <a:ext cx="8229600" cy="13716"/>
          </a:xfrm>
          <a:prstGeom prst="rect">
            <a:avLst/>
          </a:prstGeom>
          <a:solidFill>
            <a:srgbClr val="C4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4023360" cy="205740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4023360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52144"/>
            <a:ext cx="3749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mbria"/>
              </a:rPr>
              <a:t>MCTS-Solver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44752"/>
            <a:ext cx="374903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1">
                <a:solidFill>
                  <a:srgbClr val="6B7A88"/>
                </a:solidFill>
                <a:latin typeface="Calibri"/>
              </a:rPr>
              <a:t>AND/OR proof propagation  ·  Winands et al. 2008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19072"/>
            <a:ext cx="3749039" cy="1280160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65A82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Each node labelled WIN / LOSS / DRAW / UNKNOWN — labels propagate up the tree.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065A82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WIN if ∃ child LOSS  ·  LOSS if all children WIN + fully expanded  ·  DRAW by consensus.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065A82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Minimax distance breaks ties: win-fast, lose-slow.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065A82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Search terminates instantly once the root is proven — wall-clock drops to sub-millisecond.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005840"/>
            <a:ext cx="4023360" cy="205740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005840"/>
            <a:ext cx="4023360" cy="91440"/>
          </a:xfrm>
          <a:prstGeom prst="rect">
            <a:avLst/>
          </a:prstGeom>
          <a:solidFill>
            <a:srgbClr val="F4A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152144"/>
            <a:ext cx="3749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mbria"/>
              </a:rPr>
              <a:t>Tree Reuse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444752"/>
            <a:ext cx="374903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1">
                <a:solidFill>
                  <a:srgbClr val="6B7A88"/>
                </a:solidFill>
                <a:latin typeface="Calibri"/>
              </a:rPr>
              <a:t>Subtree carried over between consecutive turns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719072"/>
            <a:ext cx="3749039" cy="1280160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4A341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After each move, the matching child becomes the new root — the rest of the tree is discarded.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F4A341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BFS compaction re-indexes the surviving subtree into slots 0..k−1 (required by the flat-array layout).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F4A341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Solver labels survive compaction: proven nodes are not re-proved next turn.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F4A341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Each turn inherits the search effort of the previous one — depth-of-search compounds.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58521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mbria"/>
              </a:rPr>
              <a:t>Wall-clock per turn — ReuseFlat Solver, 5 000 iter requested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64992"/>
            <a:ext cx="58521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1">
                <a:solidFill>
                  <a:srgbClr val="6B7A88"/>
                </a:solidFill>
                <a:latin typeface="Calibri"/>
              </a:rPr>
              <a:t>Same kernel iter/s in all turns; gains come from reuse + proof early-exit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84448"/>
            <a:ext cx="77724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1000" b="1" i="0">
                <a:solidFill>
                  <a:srgbClr val="121E3F"/>
                </a:solidFill>
                <a:latin typeface="Calibri"/>
              </a:rPr>
              <a:t>Turn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584448"/>
            <a:ext cx="150876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00" b="0" i="1">
                <a:solidFill>
                  <a:srgbClr val="6B7A88"/>
                </a:solidFill>
                <a:latin typeface="Calibri"/>
              </a:rPr>
              <a:t>clean search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39" y="3584448"/>
            <a:ext cx="2011680" cy="182880"/>
          </a:xfrm>
          <a:prstGeom prst="rect">
            <a:avLst/>
          </a:prstGeom>
          <a:solidFill>
            <a:srgbClr val="5AA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3584448"/>
            <a:ext cx="77724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0" i="0">
                <a:solidFill>
                  <a:srgbClr val="121E3F"/>
                </a:solidFill>
                <a:latin typeface="Calibri"/>
              </a:rPr>
              <a:t>25.3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03904"/>
            <a:ext cx="77724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1000" b="1" i="0">
                <a:solidFill>
                  <a:srgbClr val="121E3F"/>
                </a:solidFill>
                <a:latin typeface="Calibri"/>
              </a:rPr>
              <a:t>Turn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803904"/>
            <a:ext cx="150876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00" b="0" i="1">
                <a:solidFill>
                  <a:srgbClr val="6B7A88"/>
                </a:solidFill>
                <a:latin typeface="Calibri"/>
              </a:rPr>
              <a:t>subtree inherited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39" y="3803904"/>
            <a:ext cx="1637968" cy="1828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8328" y="3803904"/>
            <a:ext cx="77724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0" i="0">
                <a:solidFill>
                  <a:srgbClr val="121E3F"/>
                </a:solidFill>
                <a:latin typeface="Calibri"/>
              </a:rPr>
              <a:t>20.6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023360"/>
            <a:ext cx="77724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1000" b="1" i="0">
                <a:solidFill>
                  <a:srgbClr val="121E3F"/>
                </a:solidFill>
                <a:latin typeface="Calibri"/>
              </a:rPr>
              <a:t>Turn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023360"/>
            <a:ext cx="150876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00" b="0" i="1">
                <a:solidFill>
                  <a:srgbClr val="6B7A88"/>
                </a:solidFill>
                <a:latin typeface="Calibri"/>
              </a:rPr>
              <a:t>deeper compounding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39" y="4023360"/>
            <a:ext cx="1248354" cy="1828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28714" y="4023360"/>
            <a:ext cx="77724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0" i="0">
                <a:solidFill>
                  <a:srgbClr val="121E3F"/>
                </a:solidFill>
                <a:latin typeface="Calibri"/>
              </a:rPr>
              <a:t>15.7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242816"/>
            <a:ext cx="77724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1000" b="1" i="0">
                <a:solidFill>
                  <a:srgbClr val="121E3F"/>
                </a:solidFill>
                <a:latin typeface="Calibri"/>
              </a:rPr>
              <a:t>Turn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242816"/>
            <a:ext cx="150876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00" b="0" i="1">
                <a:solidFill>
                  <a:srgbClr val="6B7A88"/>
                </a:solidFill>
                <a:latin typeface="Calibri"/>
              </a:rPr>
              <a:t>root proven · AND/OR exit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39" y="4242816"/>
            <a:ext cx="91440" cy="1828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71799" y="4242816"/>
            <a:ext cx="77724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121E3F"/>
                </a:solidFill>
                <a:latin typeface="Calibri"/>
              </a:rPr>
              <a:t>&lt; 1 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3154680"/>
            <a:ext cx="2194560" cy="13716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3227832"/>
            <a:ext cx="219456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00" b="1" i="0">
                <a:solidFill>
                  <a:srgbClr val="F4A341"/>
                </a:solidFill>
                <a:latin typeface="Calibri"/>
              </a:rPr>
              <a:t>EFFECT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520440"/>
            <a:ext cx="2194560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25 ms → &lt; 1 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069080"/>
            <a:ext cx="219456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1">
                <a:solidFill>
                  <a:srgbClr val="5AA4B8"/>
                </a:solidFill>
                <a:latin typeface="Calibri"/>
              </a:rPr>
              <a:t>by turn 4, with the same
5 000 iter/turn requested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617720"/>
            <a:ext cx="5212080" cy="41148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617720"/>
            <a:ext cx="9144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654296"/>
            <a:ext cx="49377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21295C"/>
                </a:solidFill>
                <a:latin typeface="Calibri"/>
              </a:rPr>
              <a:t>Honest cost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828032"/>
            <a:ext cx="49377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1">
                <a:solidFill>
                  <a:srgbClr val="334455"/>
                </a:solidFill>
                <a:latin typeface="Calibri"/>
              </a:rPr>
              <a:t>Solver bookkeeping costs 0–30 % iter/s vs plain UCT; reuse adds an O(k) BFS compaction once per move.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4617720"/>
            <a:ext cx="2926080" cy="41148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60720" y="4617720"/>
            <a:ext cx="91440" cy="4114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4654296"/>
            <a:ext cx="26974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21295C"/>
                </a:solidFill>
                <a:latin typeface="Calibri"/>
              </a:rPr>
              <a:t>Strategic value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4828032"/>
            <a:ext cx="26974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1">
                <a:solidFill>
                  <a:srgbClr val="334455"/>
                </a:solidFill>
                <a:latin typeface="Calibri"/>
              </a:rPr>
              <a:t>Provably correct endgame play  +  deeper effective 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